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type="screen4x3" cy="6858000" cx="12191695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tableStyles" Target="tableStyles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1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92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93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794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795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9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6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37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73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3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4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51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5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5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5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6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67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6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6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7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72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73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7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7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7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78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rmAutofit fontScale="91667" lnSpcReduction="10000"/>
          </a:bodyPr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79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80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rmAutofit fontScale="91667" lnSpcReduction="10000"/>
          </a:bodyPr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81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82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83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84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4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4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4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5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86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87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8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8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9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5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56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757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5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5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6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62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6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6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6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5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46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4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4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4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/>
      </p:grpSpPr>
      <p:sp>
        <p:nvSpPr>
          <p:cNvPr id="1048584" name="Rectangle 1"/>
          <p:cNvSpPr/>
          <p:nvPr/>
        </p:nvSpPr>
        <p:spPr>
          <a:xfrm>
            <a:off x="0" y="0"/>
            <a:ext cx="12191695" cy="6858000"/>
          </a:xfrm>
          <a:prstGeom prst="rect"/>
          <a:solidFill>
            <a:srgbClr val="0F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85" name="Rectangle 2"/>
          <p:cNvSpPr/>
          <p:nvPr/>
        </p:nvSpPr>
        <p:spPr>
          <a:xfrm>
            <a:off x="8229600" y="0"/>
            <a:ext cx="3959352" cy="1920240"/>
          </a:xfrm>
          <a:prstGeom prst="rect"/>
          <a:solidFill>
            <a:srgbClr val="2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86" name="Rectangle 3"/>
          <p:cNvSpPr/>
          <p:nvPr/>
        </p:nvSpPr>
        <p:spPr>
          <a:xfrm>
            <a:off x="9509760" y="1828800"/>
            <a:ext cx="2679192" cy="2286000"/>
          </a:xfrm>
          <a:prstGeom prst="rect"/>
          <a:solidFill>
            <a:srgbClr val="30B1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87" name="Rectangle 4"/>
          <p:cNvSpPr/>
          <p:nvPr/>
        </p:nvSpPr>
        <p:spPr>
          <a:xfrm>
            <a:off x="7772400" y="4389120"/>
            <a:ext cx="4416552" cy="2468880"/>
          </a:xfrm>
          <a:prstGeom prst="rect"/>
          <a:solidFill>
            <a:srgbClr val="1832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88" name="TextBox 5"/>
          <p:cNvSpPr txBox="1"/>
          <p:nvPr/>
        </p:nvSpPr>
        <p:spPr>
          <a:xfrm>
            <a:off x="731520" y="685800"/>
            <a:ext cx="2743200" cy="274320"/>
          </a:xfrm>
          <a:prstGeom prst="rect"/>
          <a:noFill/>
        </p:spPr>
        <p:txBody>
          <a:bodyPr anchor="ctr" wrap="square">
            <a:spAutoFit/>
          </a:bodyPr>
          <a:p>
            <a:pPr algn="l">
              <a:defRPr b="1" sz="1200">
                <a:solidFill>
                  <a:srgbClr val="30B1C1"/>
                </a:solidFill>
                <a:latin typeface="Aptos"/>
              </a:defRPr>
            </a:pPr>
            <a:r>
              <a:t>EMERGING TECHNOLOGY SEMINAR</a:t>
            </a:r>
          </a:p>
        </p:txBody>
      </p:sp>
      <p:sp>
        <p:nvSpPr>
          <p:cNvPr id="1048589" name="TextBox 6"/>
          <p:cNvSpPr txBox="1"/>
          <p:nvPr/>
        </p:nvSpPr>
        <p:spPr>
          <a:xfrm>
            <a:off x="731520" y="1389380"/>
            <a:ext cx="7315200" cy="1107440"/>
          </a:xfrm>
          <a:prstGeom prst="rect"/>
          <a:noFill/>
        </p:spPr>
        <p:txBody>
          <a:bodyPr anchor="ctr" wrap="square">
            <a:spAutoFit/>
          </a:bodyPr>
          <a:p>
            <a:pPr algn="l">
              <a:defRPr b="1" sz="3400">
                <a:solidFill>
                  <a:srgbClr val="FFFFFF"/>
                </a:solidFill>
                <a:latin typeface="Aptos"/>
              </a:defRPr>
            </a:pPr>
            <a:r>
              <a:t>CLOUD-NATIVE COMPUTING</a:t>
            </a:r>
            <a:br/>
            <a:r>
              <a:t>AND MICROSERVICES</a:t>
            </a:r>
          </a:p>
        </p:txBody>
      </p:sp>
      <p:sp>
        <p:nvSpPr>
          <p:cNvPr id="1048590" name="TextBox 7"/>
          <p:cNvSpPr txBox="1"/>
          <p:nvPr/>
        </p:nvSpPr>
        <p:spPr>
          <a:xfrm>
            <a:off x="749808" y="3021330"/>
            <a:ext cx="6583680" cy="358140"/>
          </a:xfrm>
          <a:prstGeom prst="rect"/>
          <a:noFill/>
        </p:spPr>
        <p:txBody>
          <a:bodyPr anchor="ctr" wrap="square">
            <a:spAutoFit/>
          </a:bodyPr>
          <a:p>
            <a:pPr algn="l">
              <a:defRPr b="0" sz="1800">
                <a:solidFill>
                  <a:srgbClr val="D2DDEB"/>
                </a:solidFill>
                <a:latin typeface="Aptos"/>
              </a:defRPr>
            </a:pPr>
            <a:r>
              <a:t>Simple and scalable cloud applications</a:t>
            </a:r>
          </a:p>
        </p:txBody>
      </p:sp>
      <p:sp>
        <p:nvSpPr>
          <p:cNvPr id="1048591" name="TextBox 8"/>
          <p:cNvSpPr txBox="1"/>
          <p:nvPr/>
        </p:nvSpPr>
        <p:spPr>
          <a:xfrm>
            <a:off x="749808" y="5440680"/>
            <a:ext cx="4114800" cy="274320"/>
          </a:xfrm>
          <a:prstGeom prst="rect"/>
          <a:noFill/>
        </p:spPr>
        <p:txBody>
          <a:bodyPr anchor="ctr" wrap="square">
            <a:spAutoFit/>
          </a:bodyPr>
          <a:p>
            <a:pPr algn="l">
              <a:defRPr b="1" sz="1100">
                <a:solidFill>
                  <a:srgbClr val="AABCD2"/>
                </a:solidFill>
                <a:latin typeface="Aptos"/>
              </a:defRPr>
            </a:pPr>
            <a:r>
              <a:t>CSA10 • SOFTWARE ENGINEERING</a:t>
            </a:r>
          </a:p>
        </p:txBody>
      </p:sp>
      <p:sp>
        <p:nvSpPr>
          <p:cNvPr id="1048592" name=""/>
          <p:cNvSpPr txBox="1"/>
          <p:nvPr/>
        </p:nvSpPr>
        <p:spPr>
          <a:xfrm>
            <a:off x="8209276" y="5204460"/>
            <a:ext cx="4000000" cy="929639"/>
          </a:xfrm>
          <a:prstGeom prst="rect"/>
        </p:spPr>
        <p:txBody>
          <a:bodyPr rtlCol="0" wrap="square">
            <a:spAutoFit/>
          </a:bodyPr>
          <a:p>
            <a:r>
              <a:rPr altLang="en-GB" sz="2800" lang="en-US">
                <a:solidFill>
                  <a:srgbClr val="000000"/>
                </a:solidFill>
              </a:rPr>
              <a:t>B</a:t>
            </a:r>
            <a:r>
              <a:rPr altLang="en-GB" sz="2800" lang="en-US">
                <a:solidFill>
                  <a:srgbClr val="000000"/>
                </a:solidFill>
              </a:rPr>
              <a:t>y</a:t>
            </a:r>
            <a:endParaRPr sz="2800" lang="en-GB">
              <a:solidFill>
                <a:srgbClr val="000000"/>
              </a:solidFill>
            </a:endParaRPr>
          </a:p>
          <a:p>
            <a:r>
              <a:rPr altLang="en-GB" sz="2800" lang="en-US">
                <a:solidFill>
                  <a:srgbClr val="000000"/>
                </a:solidFill>
              </a:rPr>
              <a:t>D</a:t>
            </a:r>
            <a:r>
              <a:rPr altLang="en-GB" sz="2800" lang="en-US">
                <a:solidFill>
                  <a:srgbClr val="000000"/>
                </a:solidFill>
              </a:rPr>
              <a:t>.</a:t>
            </a:r>
            <a:r>
              <a:rPr altLang="en-GB" sz="2800" lang="en-US">
                <a:solidFill>
                  <a:srgbClr val="000000"/>
                </a:solidFill>
              </a:rPr>
              <a:t>H</a:t>
            </a:r>
            <a:r>
              <a:rPr altLang="en-GB" sz="2800" lang="en-US">
                <a:solidFill>
                  <a:srgbClr val="000000"/>
                </a:solidFill>
              </a:rPr>
              <a:t>i</a:t>
            </a:r>
            <a:r>
              <a:rPr altLang="en-GB" sz="2800" lang="en-US">
                <a:solidFill>
                  <a:srgbClr val="000000"/>
                </a:solidFill>
              </a:rPr>
              <a:t>t</a:t>
            </a:r>
            <a:r>
              <a:rPr altLang="en-GB" sz="2800" lang="en-US">
                <a:solidFill>
                  <a:srgbClr val="000000"/>
                </a:solidFill>
              </a:rPr>
              <a:t>h</a:t>
            </a:r>
            <a:r>
              <a:rPr altLang="en-GB" sz="2800" lang="en-US">
                <a:solidFill>
                  <a:srgbClr val="000000"/>
                </a:solidFill>
              </a:rPr>
              <a:t>e</a:t>
            </a:r>
            <a:r>
              <a:rPr altLang="en-GB" sz="2800" lang="en-US">
                <a:solidFill>
                  <a:srgbClr val="000000"/>
                </a:solidFill>
              </a:rPr>
              <a:t>s</a:t>
            </a:r>
            <a:r>
              <a:rPr altLang="en-GB" sz="2800" lang="en-US">
                <a:solidFill>
                  <a:srgbClr val="000000"/>
                </a:solidFill>
              </a:rPr>
              <a:t>h</a:t>
            </a:r>
            <a:endParaRPr sz="2800" lang="en-GB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/>
      </p:grpSpPr>
      <p:sp>
        <p:nvSpPr>
          <p:cNvPr id="1048593" name="Rectangle 1"/>
          <p:cNvSpPr/>
          <p:nvPr/>
        </p:nvSpPr>
        <p:spPr>
          <a:xfrm>
            <a:off x="0" y="0"/>
            <a:ext cx="12191695" cy="6858000"/>
          </a:xfrm>
          <a:prstGeom prst="rect"/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4" name="TextBox 2"/>
          <p:cNvSpPr txBox="1"/>
          <p:nvPr/>
        </p:nvSpPr>
        <p:spPr>
          <a:xfrm>
            <a:off x="640080" y="299719"/>
            <a:ext cx="502920" cy="269242"/>
          </a:xfrm>
          <a:prstGeom prst="rect"/>
          <a:noFill/>
        </p:spPr>
        <p:txBody>
          <a:bodyPr anchor="ctr" wrap="square">
            <a:spAutoFit/>
          </a:bodyPr>
          <a:p>
            <a:pPr algn="l">
              <a:defRPr b="1" sz="1200">
                <a:solidFill>
                  <a:srgbClr val="2770B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48595" name="TextBox 3"/>
          <p:cNvSpPr txBox="1"/>
          <p:nvPr/>
        </p:nvSpPr>
        <p:spPr>
          <a:xfrm>
            <a:off x="1234440" y="228600"/>
            <a:ext cx="10332720" cy="502920"/>
          </a:xfrm>
          <a:prstGeom prst="rect"/>
          <a:noFill/>
        </p:spPr>
        <p:txBody>
          <a:bodyPr anchor="ctr" wrap="square">
            <a:spAutoFit/>
          </a:bodyPr>
          <a:p>
            <a:pPr algn="l">
              <a:defRPr b="1" sz="2700">
                <a:solidFill>
                  <a:srgbClr val="0F1E34"/>
                </a:solidFill>
                <a:latin typeface="Aptos"/>
              </a:defRPr>
            </a:pPr>
            <a:r>
              <a:t>1. Introduction to Cloud-Native Computing</a:t>
            </a:r>
          </a:p>
        </p:txBody>
      </p:sp>
      <p:sp>
        <p:nvSpPr>
          <p:cNvPr id="1048596" name="TextBox 4"/>
          <p:cNvSpPr txBox="1"/>
          <p:nvPr/>
        </p:nvSpPr>
        <p:spPr>
          <a:xfrm>
            <a:off x="1234440" y="1234440"/>
            <a:ext cx="10241280" cy="252984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1200"/>
              </a:spcAft>
              <a:defRPr sz="2100">
                <a:solidFill>
                  <a:srgbClr val="2A3443"/>
                </a:solidFill>
                <a:latin typeface="Aptos"/>
              </a:defRPr>
            </a:pPr>
            <a:r>
              <a:t>• </a:t>
            </a:r>
            <a:r>
              <a:rPr altLang="en-GB" lang="en-US"/>
              <a:t>The application is designed to run using cloud services like AWS, Azure, or GCP.</a:t>
            </a:r>
            <a:r>
              <a:t>• Uses small and independent services</a:t>
            </a:r>
            <a:endParaRPr altLang="en-US" lang="zh-CN"/>
          </a:p>
          <a:p>
            <a:pPr>
              <a:spcAft>
                <a:spcPts val="1200"/>
              </a:spcAft>
              <a:defRPr sz="2100">
                <a:solidFill>
                  <a:srgbClr val="2A3443"/>
                </a:solidFill>
                <a:latin typeface="Aptos"/>
              </a:defRPr>
            </a:pPr>
            <a:r>
              <a:t>• </a:t>
            </a:r>
            <a:r>
              <a:rPr altLang="en-GB" lang="en-US"/>
              <a:t>Instead of one big application, it is divided into smaller parts called microservices.</a:t>
            </a:r>
            <a:endParaRPr altLang="en-US" lang="zh-CN"/>
          </a:p>
          <a:p>
            <a:pPr>
              <a:spcAft>
                <a:spcPts val="1200"/>
              </a:spcAft>
              <a:defRPr sz="2100">
                <a:solidFill>
                  <a:srgbClr val="2A3443"/>
                </a:solidFill>
                <a:latin typeface="Aptos"/>
              </a:defRPr>
            </a:pPr>
            <a:r>
              <a:t>• Applications can scale easily</a:t>
            </a:r>
          </a:p>
          <a:p>
            <a:pPr>
              <a:spcAft>
                <a:spcPts val="1200"/>
              </a:spcAft>
              <a:defRPr sz="2100">
                <a:solidFill>
                  <a:srgbClr val="2A3443"/>
                </a:solidFill>
                <a:latin typeface="Aptos"/>
              </a:defRPr>
            </a:pPr>
            <a:r>
              <a:t>• Containers are commonly used</a:t>
            </a:r>
          </a:p>
          <a:p>
            <a:pPr>
              <a:spcAft>
                <a:spcPts val="1200"/>
              </a:spcAft>
              <a:defRPr sz="2100">
                <a:solidFill>
                  <a:srgbClr val="2A3443"/>
                </a:solidFill>
                <a:latin typeface="Aptos"/>
              </a:defRPr>
            </a:pPr>
            <a:r>
              <a:t>• Kubernetes helps manage applications</a:t>
            </a:r>
          </a:p>
        </p:txBody>
      </p:sp>
      <p:sp>
        <p:nvSpPr>
          <p:cNvPr id="1048597" name="TextBox 5"/>
          <p:cNvSpPr txBox="1"/>
          <p:nvPr/>
        </p:nvSpPr>
        <p:spPr>
          <a:xfrm>
            <a:off x="640080" y="6471666"/>
            <a:ext cx="5486400" cy="205740"/>
          </a:xfrm>
          <a:prstGeom prst="rect"/>
          <a:noFill/>
        </p:spPr>
        <p:txBody>
          <a:bodyPr anchor="ctr" wrap="square">
            <a:spAutoFit/>
          </a:bodyPr>
          <a:p>
            <a:pPr algn="l">
              <a:defRPr b="1" sz="800">
                <a:solidFill>
                  <a:srgbClr val="647080"/>
                </a:solidFill>
                <a:latin typeface="Aptos"/>
              </a:defRPr>
            </a:pPr>
            <a:r>
              <a:t>CLOUD-NATIVE COMPUTING AND MICROSERVICES</a:t>
            </a:r>
          </a:p>
        </p:txBody>
      </p:sp>
      <p:sp>
        <p:nvSpPr>
          <p:cNvPr id="1048598" name="TextBox 6"/>
          <p:cNvSpPr txBox="1"/>
          <p:nvPr/>
        </p:nvSpPr>
        <p:spPr>
          <a:xfrm>
            <a:off x="11064240" y="6473952"/>
            <a:ext cx="457200" cy="201168"/>
          </a:xfrm>
          <a:prstGeom prst="rect"/>
          <a:noFill/>
        </p:spPr>
        <p:txBody>
          <a:bodyPr anchor="ctr" wrap="square">
            <a:spAutoFit/>
          </a:bodyPr>
          <a:p>
            <a:pPr algn="r">
              <a:defRPr b="1" sz="900">
                <a:solidFill>
                  <a:srgbClr val="647080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/>
      </p:grpSpPr>
      <p:sp>
        <p:nvSpPr>
          <p:cNvPr id="1048599" name="Rectangle 1"/>
          <p:cNvSpPr/>
          <p:nvPr/>
        </p:nvSpPr>
        <p:spPr>
          <a:xfrm>
            <a:off x="0" y="0"/>
            <a:ext cx="12191695" cy="6858000"/>
          </a:xfrm>
          <a:prstGeom prst="rect"/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0" name="TextBox 2"/>
          <p:cNvSpPr txBox="1"/>
          <p:nvPr/>
        </p:nvSpPr>
        <p:spPr>
          <a:xfrm>
            <a:off x="640080" y="299719"/>
            <a:ext cx="502920" cy="269242"/>
          </a:xfrm>
          <a:prstGeom prst="rect"/>
          <a:noFill/>
        </p:spPr>
        <p:txBody>
          <a:bodyPr anchor="ctr" wrap="square">
            <a:spAutoFit/>
          </a:bodyPr>
          <a:p>
            <a:pPr algn="l">
              <a:defRPr b="1" sz="1200">
                <a:solidFill>
                  <a:srgbClr val="2770B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48601" name="TextBox 3"/>
          <p:cNvSpPr txBox="1"/>
          <p:nvPr/>
        </p:nvSpPr>
        <p:spPr>
          <a:xfrm>
            <a:off x="1234440" y="228600"/>
            <a:ext cx="10332720" cy="502920"/>
          </a:xfrm>
          <a:prstGeom prst="rect"/>
          <a:noFill/>
        </p:spPr>
        <p:txBody>
          <a:bodyPr anchor="ctr" wrap="square">
            <a:spAutoFit/>
          </a:bodyPr>
          <a:p>
            <a:pPr algn="l">
              <a:defRPr b="1" sz="2700">
                <a:solidFill>
                  <a:srgbClr val="0F1E34"/>
                </a:solidFill>
                <a:latin typeface="Aptos"/>
              </a:defRPr>
            </a:pPr>
            <a:r>
              <a:t>2. Need and Motivation</a:t>
            </a:r>
          </a:p>
        </p:txBody>
      </p:sp>
      <p:sp>
        <p:nvSpPr>
          <p:cNvPr id="1048602" name="TextBox 4"/>
          <p:cNvSpPr txBox="1"/>
          <p:nvPr/>
        </p:nvSpPr>
        <p:spPr>
          <a:xfrm>
            <a:off x="914400" y="1234440"/>
            <a:ext cx="10241280" cy="2682241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1200"/>
              </a:spcAft>
              <a:defRPr sz="2100">
                <a:solidFill>
                  <a:srgbClr val="2A3443"/>
                </a:solidFill>
                <a:latin typeface="Aptos"/>
              </a:defRPr>
            </a:pPr>
            <a:r>
              <a:t>• Large applications are difficult to manage</a:t>
            </a:r>
          </a:p>
          <a:p>
            <a:pPr>
              <a:spcAft>
                <a:spcPts val="1200"/>
              </a:spcAft>
              <a:defRPr sz="2100">
                <a:solidFill>
                  <a:srgbClr val="2A3443"/>
                </a:solidFill>
                <a:latin typeface="Aptos"/>
              </a:defRPr>
            </a:pPr>
            <a:r>
              <a:t>• Small changes can require full deployment</a:t>
            </a:r>
          </a:p>
          <a:p>
            <a:pPr>
              <a:spcAft>
                <a:spcPts val="1200"/>
              </a:spcAft>
              <a:defRPr sz="2100">
                <a:solidFill>
                  <a:srgbClr val="2A3443"/>
                </a:solidFill>
                <a:latin typeface="Aptos"/>
              </a:defRPr>
            </a:pPr>
            <a:r>
              <a:t>• Scaling the complete application wastes resources</a:t>
            </a:r>
          </a:p>
          <a:p>
            <a:pPr>
              <a:spcAft>
                <a:spcPts val="1200"/>
              </a:spcAft>
              <a:defRPr sz="2100">
                <a:solidFill>
                  <a:srgbClr val="2A3443"/>
                </a:solidFill>
                <a:latin typeface="Aptos"/>
              </a:defRPr>
            </a:pPr>
            <a:r>
              <a:t>• One failure can affect the whole application</a:t>
            </a:r>
          </a:p>
          <a:p>
            <a:pPr>
              <a:spcAft>
                <a:spcPts val="1200"/>
              </a:spcAft>
              <a:defRPr sz="2100">
                <a:solidFill>
                  <a:srgbClr val="2A3443"/>
                </a:solidFill>
                <a:latin typeface="Aptos"/>
              </a:defRPr>
            </a:pPr>
            <a:r>
              <a:t>• Microservices allow independent updates</a:t>
            </a:r>
          </a:p>
          <a:p>
            <a:pPr>
              <a:spcAft>
                <a:spcPts val="1200"/>
              </a:spcAft>
              <a:defRPr sz="2100">
                <a:solidFill>
                  <a:srgbClr val="2A3443"/>
                </a:solidFill>
                <a:latin typeface="Aptos"/>
              </a:defRPr>
            </a:pPr>
            <a:r>
              <a:t>• Faster development and deployment</a:t>
            </a:r>
          </a:p>
        </p:txBody>
      </p:sp>
      <p:sp>
        <p:nvSpPr>
          <p:cNvPr id="1048603" name="TextBox 5"/>
          <p:cNvSpPr txBox="1"/>
          <p:nvPr/>
        </p:nvSpPr>
        <p:spPr>
          <a:xfrm>
            <a:off x="640080" y="6471666"/>
            <a:ext cx="5486400" cy="205740"/>
          </a:xfrm>
          <a:prstGeom prst="rect"/>
          <a:noFill/>
        </p:spPr>
        <p:txBody>
          <a:bodyPr anchor="ctr" wrap="square">
            <a:spAutoFit/>
          </a:bodyPr>
          <a:p>
            <a:pPr algn="l">
              <a:defRPr b="1" sz="800">
                <a:solidFill>
                  <a:srgbClr val="647080"/>
                </a:solidFill>
                <a:latin typeface="Aptos"/>
              </a:defRPr>
            </a:pPr>
            <a:r>
              <a:t>CLOUD-NATIVE COMPUTING AND MICROSERVICES</a:t>
            </a:r>
          </a:p>
        </p:txBody>
      </p:sp>
      <p:sp>
        <p:nvSpPr>
          <p:cNvPr id="1048604" name="TextBox 6"/>
          <p:cNvSpPr txBox="1"/>
          <p:nvPr/>
        </p:nvSpPr>
        <p:spPr>
          <a:xfrm>
            <a:off x="11064240" y="6473952"/>
            <a:ext cx="457200" cy="201168"/>
          </a:xfrm>
          <a:prstGeom prst="rect"/>
          <a:noFill/>
        </p:spPr>
        <p:txBody>
          <a:bodyPr anchor="ctr" wrap="square">
            <a:spAutoFit/>
          </a:bodyPr>
          <a:p>
            <a:pPr algn="r">
              <a:defRPr b="1" sz="900">
                <a:solidFill>
                  <a:srgbClr val="647080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/>
      </p:grpSpPr>
      <p:sp>
        <p:nvSpPr>
          <p:cNvPr id="1048605" name="Rectangle 1"/>
          <p:cNvSpPr/>
          <p:nvPr/>
        </p:nvSpPr>
        <p:spPr>
          <a:xfrm>
            <a:off x="0" y="0"/>
            <a:ext cx="12191695" cy="6858000"/>
          </a:xfrm>
          <a:prstGeom prst="rect"/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6" name="TextBox 2"/>
          <p:cNvSpPr txBox="1"/>
          <p:nvPr/>
        </p:nvSpPr>
        <p:spPr>
          <a:xfrm>
            <a:off x="640080" y="299719"/>
            <a:ext cx="502920" cy="269242"/>
          </a:xfrm>
          <a:prstGeom prst="rect"/>
          <a:noFill/>
        </p:spPr>
        <p:txBody>
          <a:bodyPr anchor="ctr" wrap="square">
            <a:spAutoFit/>
          </a:bodyPr>
          <a:p>
            <a:pPr algn="l">
              <a:defRPr b="1" sz="1200">
                <a:solidFill>
                  <a:srgbClr val="2770B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048607" name="TextBox 3"/>
          <p:cNvSpPr txBox="1"/>
          <p:nvPr/>
        </p:nvSpPr>
        <p:spPr>
          <a:xfrm>
            <a:off x="1234440" y="228600"/>
            <a:ext cx="10332720" cy="502920"/>
          </a:xfrm>
          <a:prstGeom prst="rect"/>
          <a:noFill/>
        </p:spPr>
        <p:txBody>
          <a:bodyPr anchor="ctr" wrap="square">
            <a:spAutoFit/>
          </a:bodyPr>
          <a:p>
            <a:pPr algn="l">
              <a:defRPr b="1" sz="2700">
                <a:solidFill>
                  <a:srgbClr val="0F1E34"/>
                </a:solidFill>
                <a:latin typeface="Aptos"/>
              </a:defRPr>
            </a:pPr>
            <a:r>
              <a:t>3. Working Principle / Architecture</a:t>
            </a:r>
          </a:p>
        </p:txBody>
      </p:sp>
      <p:sp>
        <p:nvSpPr>
          <p:cNvPr id="1048608" name="Rounded Rectangle 4"/>
          <p:cNvSpPr/>
          <p:nvPr/>
        </p:nvSpPr>
        <p:spPr>
          <a:xfrm>
            <a:off x="594360" y="1828800"/>
            <a:ext cx="1188720" cy="1371600"/>
          </a:xfrm>
          <a:prstGeom prst="roundRect"/>
          <a:solidFill>
            <a:srgbClr val="0F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9" name="TextBox 5"/>
          <p:cNvSpPr txBox="1"/>
          <p:nvPr/>
        </p:nvSpPr>
        <p:spPr>
          <a:xfrm>
            <a:off x="667512" y="2264410"/>
            <a:ext cx="1042415" cy="408940"/>
          </a:xfrm>
          <a:prstGeom prst="rect"/>
          <a:noFill/>
        </p:spPr>
        <p:txBody>
          <a:bodyPr anchor="ctr" wrap="square">
            <a:spAutoFit/>
          </a:bodyPr>
          <a:p>
            <a:pPr algn="ctr">
              <a:defRPr b="1" sz="220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48610" name="TextBox 6"/>
          <p:cNvSpPr txBox="1"/>
          <p:nvPr/>
        </p:nvSpPr>
        <p:spPr>
          <a:xfrm>
            <a:off x="548640" y="3583940"/>
            <a:ext cx="1280160" cy="421640"/>
          </a:xfrm>
          <a:prstGeom prst="rect"/>
          <a:noFill/>
        </p:spPr>
        <p:txBody>
          <a:bodyPr anchor="ctr" wrap="square">
            <a:spAutoFit/>
          </a:bodyPr>
          <a:p>
            <a:pPr algn="ctr">
              <a:defRPr b="1" sz="1100">
                <a:solidFill>
                  <a:srgbClr val="0F1E34"/>
                </a:solidFill>
                <a:latin typeface="Aptos"/>
              </a:defRPr>
            </a:pPr>
            <a:r>
              <a:t>User sends a request</a:t>
            </a:r>
          </a:p>
        </p:txBody>
      </p:sp>
      <p:cxnSp>
        <p:nvCxnSpPr>
          <p:cNvPr id="3145728" name="Connector 7"/>
          <p:cNvCxnSpPr>
            <a:cxnSpLocks/>
          </p:cNvCxnSpPr>
          <p:nvPr/>
        </p:nvCxnSpPr>
        <p:spPr>
          <a:xfrm>
            <a:off x="1783080" y="2514600"/>
            <a:ext cx="457200" cy="0"/>
          </a:xfrm>
          <a:prstGeom prst="line"/>
          <a:ln w="25400">
            <a:solidFill>
              <a:srgbClr val="64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611" name="Rounded Rectangle 8"/>
          <p:cNvSpPr/>
          <p:nvPr/>
        </p:nvSpPr>
        <p:spPr>
          <a:xfrm>
            <a:off x="2240280" y="1828800"/>
            <a:ext cx="1188720" cy="1371600"/>
          </a:xfrm>
          <a:prstGeom prst="roundRect"/>
          <a:solidFill>
            <a:srgbClr val="2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2" name="TextBox 9"/>
          <p:cNvSpPr txBox="1"/>
          <p:nvPr/>
        </p:nvSpPr>
        <p:spPr>
          <a:xfrm>
            <a:off x="2313432" y="2264410"/>
            <a:ext cx="1042415" cy="408940"/>
          </a:xfrm>
          <a:prstGeom prst="rect"/>
          <a:noFill/>
        </p:spPr>
        <p:txBody>
          <a:bodyPr anchor="ctr" wrap="square">
            <a:spAutoFit/>
          </a:bodyPr>
          <a:p>
            <a:pPr algn="ctr">
              <a:defRPr b="1" sz="220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48613" name="TextBox 10"/>
          <p:cNvSpPr txBox="1"/>
          <p:nvPr/>
        </p:nvSpPr>
        <p:spPr>
          <a:xfrm>
            <a:off x="2194560" y="3501390"/>
            <a:ext cx="1280160" cy="586740"/>
          </a:xfrm>
          <a:prstGeom prst="rect"/>
          <a:noFill/>
        </p:spPr>
        <p:txBody>
          <a:bodyPr anchor="ctr" wrap="square">
            <a:spAutoFit/>
          </a:bodyPr>
          <a:p>
            <a:pPr algn="ctr">
              <a:defRPr b="1" sz="1100">
                <a:solidFill>
                  <a:srgbClr val="0F1E34"/>
                </a:solidFill>
                <a:latin typeface="Aptos"/>
              </a:defRPr>
            </a:pPr>
            <a:r>
              <a:t>API Gateway receives the request</a:t>
            </a:r>
          </a:p>
        </p:txBody>
      </p:sp>
      <p:cxnSp>
        <p:nvCxnSpPr>
          <p:cNvPr id="3145729" name="Connector 11"/>
          <p:cNvCxnSpPr>
            <a:cxnSpLocks/>
          </p:cNvCxnSpPr>
          <p:nvPr/>
        </p:nvCxnSpPr>
        <p:spPr>
          <a:xfrm>
            <a:off x="3429000" y="2514600"/>
            <a:ext cx="457200" cy="0"/>
          </a:xfrm>
          <a:prstGeom prst="line"/>
          <a:ln w="25400">
            <a:solidFill>
              <a:srgbClr val="64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614" name="Rounded Rectangle 12"/>
          <p:cNvSpPr/>
          <p:nvPr/>
        </p:nvSpPr>
        <p:spPr>
          <a:xfrm>
            <a:off x="3886200" y="1828800"/>
            <a:ext cx="1188720" cy="1371600"/>
          </a:xfrm>
          <a:prstGeom prst="roundRect"/>
          <a:solidFill>
            <a:srgbClr val="30B1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5" name="TextBox 13"/>
          <p:cNvSpPr txBox="1"/>
          <p:nvPr/>
        </p:nvSpPr>
        <p:spPr>
          <a:xfrm>
            <a:off x="3959352" y="2264410"/>
            <a:ext cx="1042415" cy="408940"/>
          </a:xfrm>
          <a:prstGeom prst="rect"/>
          <a:noFill/>
        </p:spPr>
        <p:txBody>
          <a:bodyPr anchor="ctr" wrap="square">
            <a:spAutoFit/>
          </a:bodyPr>
          <a:p>
            <a:pPr algn="ctr">
              <a:defRPr b="1" sz="220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048616" name="TextBox 14"/>
          <p:cNvSpPr txBox="1"/>
          <p:nvPr/>
        </p:nvSpPr>
        <p:spPr>
          <a:xfrm>
            <a:off x="3840480" y="3501390"/>
            <a:ext cx="1280160" cy="586740"/>
          </a:xfrm>
          <a:prstGeom prst="rect"/>
          <a:noFill/>
        </p:spPr>
        <p:txBody>
          <a:bodyPr anchor="ctr" wrap="square">
            <a:spAutoFit/>
          </a:bodyPr>
          <a:p>
            <a:pPr algn="ctr">
              <a:defRPr b="1" sz="1100">
                <a:solidFill>
                  <a:srgbClr val="0F1E34"/>
                </a:solidFill>
                <a:latin typeface="Aptos"/>
              </a:defRPr>
            </a:pPr>
            <a:r>
              <a:t>Gateway sends it to the required service</a:t>
            </a:r>
          </a:p>
        </p:txBody>
      </p:sp>
      <p:cxnSp>
        <p:nvCxnSpPr>
          <p:cNvPr id="3145730" name="Connector 15"/>
          <p:cNvCxnSpPr>
            <a:cxnSpLocks/>
          </p:cNvCxnSpPr>
          <p:nvPr/>
        </p:nvCxnSpPr>
        <p:spPr>
          <a:xfrm>
            <a:off x="5074920" y="2514600"/>
            <a:ext cx="457200" cy="0"/>
          </a:xfrm>
          <a:prstGeom prst="line"/>
          <a:ln w="25400">
            <a:solidFill>
              <a:srgbClr val="64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617" name="Rounded Rectangle 16"/>
          <p:cNvSpPr/>
          <p:nvPr/>
        </p:nvSpPr>
        <p:spPr>
          <a:xfrm>
            <a:off x="5532120" y="1828800"/>
            <a:ext cx="1188720" cy="1371600"/>
          </a:xfrm>
          <a:prstGeom prst="roundRect"/>
          <a:solidFill>
            <a:srgbClr val="309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8" name="TextBox 17"/>
          <p:cNvSpPr txBox="1"/>
          <p:nvPr/>
        </p:nvSpPr>
        <p:spPr>
          <a:xfrm>
            <a:off x="5605272" y="2264410"/>
            <a:ext cx="1042415" cy="408940"/>
          </a:xfrm>
          <a:prstGeom prst="rect"/>
          <a:noFill/>
        </p:spPr>
        <p:txBody>
          <a:bodyPr anchor="ctr" wrap="square">
            <a:spAutoFit/>
          </a:bodyPr>
          <a:p>
            <a:pPr algn="ctr">
              <a:defRPr b="1" sz="220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048619" name="TextBox 18"/>
          <p:cNvSpPr txBox="1"/>
          <p:nvPr/>
        </p:nvSpPr>
        <p:spPr>
          <a:xfrm>
            <a:off x="5486400" y="3583940"/>
            <a:ext cx="1280160" cy="421640"/>
          </a:xfrm>
          <a:prstGeom prst="rect"/>
          <a:noFill/>
        </p:spPr>
        <p:txBody>
          <a:bodyPr anchor="ctr" wrap="square">
            <a:spAutoFit/>
          </a:bodyPr>
          <a:p>
            <a:pPr algn="ctr">
              <a:defRPr b="1" sz="1100">
                <a:solidFill>
                  <a:srgbClr val="0F1E34"/>
                </a:solidFill>
                <a:latin typeface="Aptos"/>
              </a:defRPr>
            </a:pPr>
            <a:r>
              <a:t>Services run in containers</a:t>
            </a:r>
          </a:p>
        </p:txBody>
      </p:sp>
      <p:cxnSp>
        <p:nvCxnSpPr>
          <p:cNvPr id="3145731" name="Connector 19"/>
          <p:cNvCxnSpPr>
            <a:cxnSpLocks/>
          </p:cNvCxnSpPr>
          <p:nvPr/>
        </p:nvCxnSpPr>
        <p:spPr>
          <a:xfrm>
            <a:off x="6720840" y="2514600"/>
            <a:ext cx="457200" cy="0"/>
          </a:xfrm>
          <a:prstGeom prst="line"/>
          <a:ln w="25400">
            <a:solidFill>
              <a:srgbClr val="64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620" name="Rounded Rectangle 20"/>
          <p:cNvSpPr/>
          <p:nvPr/>
        </p:nvSpPr>
        <p:spPr>
          <a:xfrm>
            <a:off x="7178040" y="1828800"/>
            <a:ext cx="1188720" cy="1371600"/>
          </a:xfrm>
          <a:prstGeom prst="roundRect"/>
          <a:solidFill>
            <a:srgbClr val="E18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1" name="TextBox 21"/>
          <p:cNvSpPr txBox="1"/>
          <p:nvPr/>
        </p:nvSpPr>
        <p:spPr>
          <a:xfrm>
            <a:off x="7251192" y="2264410"/>
            <a:ext cx="1042415" cy="408940"/>
          </a:xfrm>
          <a:prstGeom prst="rect"/>
          <a:noFill/>
        </p:spPr>
        <p:txBody>
          <a:bodyPr anchor="ctr" wrap="square">
            <a:spAutoFit/>
          </a:bodyPr>
          <a:p>
            <a:pPr algn="ctr">
              <a:defRPr b="1" sz="2200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048622" name="TextBox 22"/>
          <p:cNvSpPr txBox="1"/>
          <p:nvPr/>
        </p:nvSpPr>
        <p:spPr>
          <a:xfrm>
            <a:off x="7132320" y="3501390"/>
            <a:ext cx="1280160" cy="586740"/>
          </a:xfrm>
          <a:prstGeom prst="rect"/>
          <a:noFill/>
        </p:spPr>
        <p:txBody>
          <a:bodyPr anchor="ctr" wrap="square">
            <a:spAutoFit/>
          </a:bodyPr>
          <a:p>
            <a:pPr algn="ctr">
              <a:defRPr b="1" sz="1100">
                <a:solidFill>
                  <a:srgbClr val="0F1E34"/>
                </a:solidFill>
                <a:latin typeface="Aptos"/>
              </a:defRPr>
            </a:pPr>
            <a:r>
              <a:t>Kubernetes manages the containers</a:t>
            </a:r>
          </a:p>
        </p:txBody>
      </p:sp>
      <p:cxnSp>
        <p:nvCxnSpPr>
          <p:cNvPr id="3145732" name="Connector 23"/>
          <p:cNvCxnSpPr>
            <a:cxnSpLocks/>
          </p:cNvCxnSpPr>
          <p:nvPr/>
        </p:nvCxnSpPr>
        <p:spPr>
          <a:xfrm>
            <a:off x="8366760" y="2514600"/>
            <a:ext cx="457200" cy="0"/>
          </a:xfrm>
          <a:prstGeom prst="line"/>
          <a:ln w="25400">
            <a:solidFill>
              <a:srgbClr val="64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623" name="Rounded Rectangle 24"/>
          <p:cNvSpPr/>
          <p:nvPr/>
        </p:nvSpPr>
        <p:spPr>
          <a:xfrm>
            <a:off x="8823960" y="1828800"/>
            <a:ext cx="1188720" cy="1371600"/>
          </a:xfrm>
          <a:prstGeom prst="roundRect"/>
          <a:solidFill>
            <a:srgbClr val="2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4" name="TextBox 25"/>
          <p:cNvSpPr txBox="1"/>
          <p:nvPr/>
        </p:nvSpPr>
        <p:spPr>
          <a:xfrm>
            <a:off x="8897112" y="2264410"/>
            <a:ext cx="1042415" cy="408940"/>
          </a:xfrm>
          <a:prstGeom prst="rect"/>
          <a:noFill/>
        </p:spPr>
        <p:txBody>
          <a:bodyPr anchor="ctr" wrap="square">
            <a:spAutoFit/>
          </a:bodyPr>
          <a:p>
            <a:pPr algn="ctr">
              <a:defRPr b="1" sz="2200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1048625" name="TextBox 26"/>
          <p:cNvSpPr txBox="1"/>
          <p:nvPr/>
        </p:nvSpPr>
        <p:spPr>
          <a:xfrm>
            <a:off x="8778240" y="3501390"/>
            <a:ext cx="1280160" cy="586740"/>
          </a:xfrm>
          <a:prstGeom prst="rect"/>
          <a:noFill/>
        </p:spPr>
        <p:txBody>
          <a:bodyPr anchor="ctr" wrap="square">
            <a:spAutoFit/>
          </a:bodyPr>
          <a:p>
            <a:pPr algn="ctr">
              <a:defRPr b="1" sz="1100">
                <a:solidFill>
                  <a:srgbClr val="0F1E34"/>
                </a:solidFill>
                <a:latin typeface="Aptos"/>
              </a:defRPr>
            </a:pPr>
            <a:r>
              <a:t>Services communicate with each other</a:t>
            </a:r>
          </a:p>
        </p:txBody>
      </p:sp>
      <p:cxnSp>
        <p:nvCxnSpPr>
          <p:cNvPr id="3145733" name="Connector 27"/>
          <p:cNvCxnSpPr>
            <a:cxnSpLocks/>
          </p:cNvCxnSpPr>
          <p:nvPr/>
        </p:nvCxnSpPr>
        <p:spPr>
          <a:xfrm>
            <a:off x="10012680" y="2514600"/>
            <a:ext cx="457200" cy="0"/>
          </a:xfrm>
          <a:prstGeom prst="line"/>
          <a:ln w="25400">
            <a:solidFill>
              <a:srgbClr val="64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626" name="Rounded Rectangle 28"/>
          <p:cNvSpPr/>
          <p:nvPr/>
        </p:nvSpPr>
        <p:spPr>
          <a:xfrm>
            <a:off x="10469880" y="1828800"/>
            <a:ext cx="1188720" cy="1371600"/>
          </a:xfrm>
          <a:prstGeom prst="roundRect"/>
          <a:solidFill>
            <a:srgbClr val="30B1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7" name="TextBox 29"/>
          <p:cNvSpPr txBox="1"/>
          <p:nvPr/>
        </p:nvSpPr>
        <p:spPr>
          <a:xfrm>
            <a:off x="10543032" y="2264410"/>
            <a:ext cx="1042415" cy="408940"/>
          </a:xfrm>
          <a:prstGeom prst="rect"/>
          <a:noFill/>
        </p:spPr>
        <p:txBody>
          <a:bodyPr anchor="ctr" wrap="square">
            <a:spAutoFit/>
          </a:bodyPr>
          <a:p>
            <a:pPr algn="ctr">
              <a:defRPr b="1" sz="2200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1048628" name="TextBox 30"/>
          <p:cNvSpPr txBox="1"/>
          <p:nvPr/>
        </p:nvSpPr>
        <p:spPr>
          <a:xfrm>
            <a:off x="10424159" y="3501390"/>
            <a:ext cx="1280160" cy="586740"/>
          </a:xfrm>
          <a:prstGeom prst="rect"/>
          <a:noFill/>
        </p:spPr>
        <p:txBody>
          <a:bodyPr anchor="ctr" wrap="square">
            <a:spAutoFit/>
          </a:bodyPr>
          <a:p>
            <a:pPr algn="ctr">
              <a:defRPr b="1" sz="1100">
                <a:solidFill>
                  <a:srgbClr val="0F1E34"/>
                </a:solidFill>
                <a:latin typeface="Aptos"/>
              </a:defRPr>
            </a:pPr>
            <a:r>
              <a:t>Cloud provides computing and storage</a:t>
            </a:r>
          </a:p>
        </p:txBody>
      </p:sp>
      <p:sp>
        <p:nvSpPr>
          <p:cNvPr id="1048629" name="TextBox 31"/>
          <p:cNvSpPr txBox="1"/>
          <p:nvPr/>
        </p:nvSpPr>
        <p:spPr>
          <a:xfrm>
            <a:off x="1097280" y="5238750"/>
            <a:ext cx="9966960" cy="358140"/>
          </a:xfrm>
          <a:prstGeom prst="rect"/>
          <a:noFill/>
        </p:spPr>
        <p:txBody>
          <a:bodyPr anchor="ctr" wrap="square">
            <a:spAutoFit/>
          </a:bodyPr>
          <a:p>
            <a:pPr algn="ctr">
              <a:defRPr b="1" sz="1800">
                <a:solidFill>
                  <a:srgbClr val="0F1E34"/>
                </a:solidFill>
                <a:latin typeface="Aptos"/>
              </a:defRPr>
            </a:pPr>
            <a:r>
              <a:t>Workflow: User → API Gateway → Service → Container → Kubernetes → Cloud</a:t>
            </a:r>
          </a:p>
        </p:txBody>
      </p:sp>
      <p:sp>
        <p:nvSpPr>
          <p:cNvPr id="1048630" name="TextBox 32"/>
          <p:cNvSpPr txBox="1"/>
          <p:nvPr/>
        </p:nvSpPr>
        <p:spPr>
          <a:xfrm>
            <a:off x="640080" y="6471666"/>
            <a:ext cx="5486400" cy="205740"/>
          </a:xfrm>
          <a:prstGeom prst="rect"/>
          <a:noFill/>
        </p:spPr>
        <p:txBody>
          <a:bodyPr anchor="ctr" wrap="square">
            <a:spAutoFit/>
          </a:bodyPr>
          <a:p>
            <a:pPr algn="l">
              <a:defRPr b="1" sz="800">
                <a:solidFill>
                  <a:srgbClr val="647080"/>
                </a:solidFill>
                <a:latin typeface="Aptos"/>
              </a:defRPr>
            </a:pPr>
            <a:r>
              <a:t>CLOUD-NATIVE COMPUTING AND MICROSERVICES</a:t>
            </a:r>
          </a:p>
        </p:txBody>
      </p:sp>
      <p:sp>
        <p:nvSpPr>
          <p:cNvPr id="1048631" name="TextBox 33"/>
          <p:cNvSpPr txBox="1"/>
          <p:nvPr/>
        </p:nvSpPr>
        <p:spPr>
          <a:xfrm>
            <a:off x="11064240" y="6473952"/>
            <a:ext cx="457200" cy="201168"/>
          </a:xfrm>
          <a:prstGeom prst="rect"/>
          <a:noFill/>
        </p:spPr>
        <p:txBody>
          <a:bodyPr anchor="ctr" wrap="square">
            <a:spAutoFit/>
          </a:bodyPr>
          <a:p>
            <a:pPr algn="r">
              <a:defRPr b="1" sz="900">
                <a:solidFill>
                  <a:srgbClr val="647080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/>
      </p:grpSpPr>
      <p:sp>
        <p:nvSpPr>
          <p:cNvPr id="1048632" name="Rectangle 1"/>
          <p:cNvSpPr/>
          <p:nvPr/>
        </p:nvSpPr>
        <p:spPr>
          <a:xfrm>
            <a:off x="0" y="0"/>
            <a:ext cx="12191695" cy="6858000"/>
          </a:xfrm>
          <a:prstGeom prst="rect"/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3" name="TextBox 2"/>
          <p:cNvSpPr txBox="1"/>
          <p:nvPr/>
        </p:nvSpPr>
        <p:spPr>
          <a:xfrm>
            <a:off x="640080" y="299719"/>
            <a:ext cx="502920" cy="269242"/>
          </a:xfrm>
          <a:prstGeom prst="rect"/>
          <a:noFill/>
        </p:spPr>
        <p:txBody>
          <a:bodyPr anchor="ctr" wrap="square">
            <a:spAutoFit/>
          </a:bodyPr>
          <a:p>
            <a:pPr algn="l">
              <a:defRPr b="1" sz="1200">
                <a:solidFill>
                  <a:srgbClr val="2770B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048634" name="TextBox 3"/>
          <p:cNvSpPr txBox="1"/>
          <p:nvPr/>
        </p:nvSpPr>
        <p:spPr>
          <a:xfrm>
            <a:off x="1234440" y="228600"/>
            <a:ext cx="10332720" cy="502920"/>
          </a:xfrm>
          <a:prstGeom prst="rect"/>
          <a:noFill/>
        </p:spPr>
        <p:txBody>
          <a:bodyPr anchor="ctr" wrap="square">
            <a:spAutoFit/>
          </a:bodyPr>
          <a:p>
            <a:pPr algn="l">
              <a:defRPr b="1" sz="2700">
                <a:solidFill>
                  <a:srgbClr val="0F1E34"/>
                </a:solidFill>
                <a:latin typeface="Aptos"/>
              </a:defRPr>
            </a:pPr>
            <a:r>
              <a:t>4. Key Components and Technologies</a:t>
            </a:r>
          </a:p>
        </p:txBody>
      </p:sp>
      <p:sp>
        <p:nvSpPr>
          <p:cNvPr id="1048635" name="Rounded Rectangle 4"/>
          <p:cNvSpPr/>
          <p:nvPr/>
        </p:nvSpPr>
        <p:spPr>
          <a:xfrm>
            <a:off x="685800" y="1234440"/>
            <a:ext cx="5074920" cy="960120"/>
          </a:xfrm>
          <a:prstGeom prst="roundRect"/>
          <a:solidFill>
            <a:srgbClr val="FFFFFF"/>
          </a:solidFill>
          <a:ln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6" name="Rectangle 5"/>
          <p:cNvSpPr/>
          <p:nvPr/>
        </p:nvSpPr>
        <p:spPr>
          <a:xfrm>
            <a:off x="685800" y="1234440"/>
            <a:ext cx="64008" cy="960120"/>
          </a:xfrm>
          <a:prstGeom prst="rect"/>
          <a:solidFill>
            <a:srgbClr val="2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7" name="TextBox 6"/>
          <p:cNvSpPr txBox="1"/>
          <p:nvPr/>
        </p:nvSpPr>
        <p:spPr>
          <a:xfrm>
            <a:off x="886968" y="1534414"/>
            <a:ext cx="4663440" cy="332740"/>
          </a:xfrm>
          <a:prstGeom prst="rect"/>
          <a:noFill/>
        </p:spPr>
        <p:txBody>
          <a:bodyPr anchor="ctr" wrap="square">
            <a:spAutoFit/>
          </a:bodyPr>
          <a:p>
            <a:pPr algn="l">
              <a:defRPr b="0" sz="1600">
                <a:solidFill>
                  <a:srgbClr val="2A3443"/>
                </a:solidFill>
                <a:latin typeface="Aptos"/>
              </a:defRPr>
            </a:pPr>
            <a:r>
              <a:t>Docker – Runs applications in containers</a:t>
            </a:r>
          </a:p>
        </p:txBody>
      </p:sp>
      <p:sp>
        <p:nvSpPr>
          <p:cNvPr id="1048638" name="Rounded Rectangle 7"/>
          <p:cNvSpPr/>
          <p:nvPr/>
        </p:nvSpPr>
        <p:spPr>
          <a:xfrm>
            <a:off x="6263640" y="1234440"/>
            <a:ext cx="5074920" cy="960120"/>
          </a:xfrm>
          <a:prstGeom prst="roundRect"/>
          <a:solidFill>
            <a:srgbClr val="FFFFFF"/>
          </a:solidFill>
          <a:ln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9" name="Rectangle 8"/>
          <p:cNvSpPr/>
          <p:nvPr/>
        </p:nvSpPr>
        <p:spPr>
          <a:xfrm>
            <a:off x="6263640" y="1234440"/>
            <a:ext cx="64008" cy="960120"/>
          </a:xfrm>
          <a:prstGeom prst="rect"/>
          <a:solidFill>
            <a:srgbClr val="30B1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0" name="TextBox 9"/>
          <p:cNvSpPr txBox="1"/>
          <p:nvPr/>
        </p:nvSpPr>
        <p:spPr>
          <a:xfrm>
            <a:off x="6464807" y="1534414"/>
            <a:ext cx="4663440" cy="332740"/>
          </a:xfrm>
          <a:prstGeom prst="rect"/>
          <a:noFill/>
        </p:spPr>
        <p:txBody>
          <a:bodyPr anchor="ctr" wrap="square">
            <a:spAutoFit/>
          </a:bodyPr>
          <a:p>
            <a:pPr algn="l">
              <a:defRPr b="0" sz="1600">
                <a:solidFill>
                  <a:srgbClr val="2A3443"/>
                </a:solidFill>
                <a:latin typeface="Aptos"/>
              </a:defRPr>
            </a:pPr>
            <a:r>
              <a:t>Kubernetes – Manages containers</a:t>
            </a:r>
          </a:p>
        </p:txBody>
      </p:sp>
      <p:sp>
        <p:nvSpPr>
          <p:cNvPr id="1048641" name="Rounded Rectangle 10"/>
          <p:cNvSpPr/>
          <p:nvPr/>
        </p:nvSpPr>
        <p:spPr>
          <a:xfrm>
            <a:off x="685800" y="2468880"/>
            <a:ext cx="5074920" cy="960120"/>
          </a:xfrm>
          <a:prstGeom prst="roundRect"/>
          <a:solidFill>
            <a:srgbClr val="FFFFFF"/>
          </a:solidFill>
          <a:ln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2" name="Rectangle 11"/>
          <p:cNvSpPr/>
          <p:nvPr/>
        </p:nvSpPr>
        <p:spPr>
          <a:xfrm>
            <a:off x="685800" y="2468880"/>
            <a:ext cx="64008" cy="960120"/>
          </a:xfrm>
          <a:prstGeom prst="rect"/>
          <a:solidFill>
            <a:srgbClr val="309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3" name="TextBox 12"/>
          <p:cNvSpPr txBox="1"/>
          <p:nvPr/>
        </p:nvSpPr>
        <p:spPr>
          <a:xfrm>
            <a:off x="886968" y="2768854"/>
            <a:ext cx="4663440" cy="332740"/>
          </a:xfrm>
          <a:prstGeom prst="rect"/>
          <a:noFill/>
        </p:spPr>
        <p:txBody>
          <a:bodyPr anchor="ctr" wrap="square">
            <a:spAutoFit/>
          </a:bodyPr>
          <a:p>
            <a:pPr algn="l">
              <a:defRPr b="0" sz="1600">
                <a:solidFill>
                  <a:srgbClr val="2A3443"/>
                </a:solidFill>
                <a:latin typeface="Aptos"/>
              </a:defRPr>
            </a:pPr>
            <a:r>
              <a:t>API Gateway – Handles requests</a:t>
            </a:r>
          </a:p>
        </p:txBody>
      </p:sp>
      <p:sp>
        <p:nvSpPr>
          <p:cNvPr id="1048644" name="Rounded Rectangle 13"/>
          <p:cNvSpPr/>
          <p:nvPr/>
        </p:nvSpPr>
        <p:spPr>
          <a:xfrm>
            <a:off x="6263640" y="2468880"/>
            <a:ext cx="5074920" cy="960120"/>
          </a:xfrm>
          <a:prstGeom prst="roundRect"/>
          <a:solidFill>
            <a:srgbClr val="FFFFFF"/>
          </a:solidFill>
          <a:ln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5" name="Rectangle 14"/>
          <p:cNvSpPr/>
          <p:nvPr/>
        </p:nvSpPr>
        <p:spPr>
          <a:xfrm>
            <a:off x="6263640" y="2468880"/>
            <a:ext cx="64008" cy="960120"/>
          </a:xfrm>
          <a:prstGeom prst="rect"/>
          <a:solidFill>
            <a:srgbClr val="E18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6" name="TextBox 15"/>
          <p:cNvSpPr txBox="1"/>
          <p:nvPr/>
        </p:nvSpPr>
        <p:spPr>
          <a:xfrm>
            <a:off x="6464807" y="2768854"/>
            <a:ext cx="4663440" cy="332740"/>
          </a:xfrm>
          <a:prstGeom prst="rect"/>
          <a:noFill/>
        </p:spPr>
        <p:txBody>
          <a:bodyPr anchor="ctr" wrap="square">
            <a:spAutoFit/>
          </a:bodyPr>
          <a:p>
            <a:pPr algn="l">
              <a:defRPr b="0" sz="1600">
                <a:solidFill>
                  <a:srgbClr val="2A3443"/>
                </a:solidFill>
                <a:latin typeface="Aptos"/>
              </a:defRPr>
            </a:pPr>
            <a:r>
              <a:t>Service Mesh – Manages service communication</a:t>
            </a:r>
          </a:p>
        </p:txBody>
      </p:sp>
      <p:sp>
        <p:nvSpPr>
          <p:cNvPr id="1048647" name="Rounded Rectangle 16"/>
          <p:cNvSpPr/>
          <p:nvPr/>
        </p:nvSpPr>
        <p:spPr>
          <a:xfrm>
            <a:off x="685800" y="3703320"/>
            <a:ext cx="5074920" cy="960120"/>
          </a:xfrm>
          <a:prstGeom prst="roundRect"/>
          <a:solidFill>
            <a:srgbClr val="FFFFFF"/>
          </a:solidFill>
          <a:ln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8" name="Rectangle 17"/>
          <p:cNvSpPr/>
          <p:nvPr/>
        </p:nvSpPr>
        <p:spPr>
          <a:xfrm>
            <a:off x="685800" y="3703320"/>
            <a:ext cx="64008" cy="960120"/>
          </a:xfrm>
          <a:prstGeom prst="rect"/>
          <a:solidFill>
            <a:srgbClr val="2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9" name="TextBox 18"/>
          <p:cNvSpPr txBox="1"/>
          <p:nvPr/>
        </p:nvSpPr>
        <p:spPr>
          <a:xfrm>
            <a:off x="886968" y="4003294"/>
            <a:ext cx="4663440" cy="332740"/>
          </a:xfrm>
          <a:prstGeom prst="rect"/>
          <a:noFill/>
        </p:spPr>
        <p:txBody>
          <a:bodyPr anchor="ctr" wrap="square">
            <a:spAutoFit/>
          </a:bodyPr>
          <a:p>
            <a:pPr algn="l">
              <a:defRPr b="0" sz="1600">
                <a:solidFill>
                  <a:srgbClr val="2A3443"/>
                </a:solidFill>
                <a:latin typeface="Aptos"/>
              </a:defRPr>
            </a:pPr>
            <a:r>
              <a:t>CI/CD – Automates deployment</a:t>
            </a:r>
          </a:p>
        </p:txBody>
      </p:sp>
      <p:sp>
        <p:nvSpPr>
          <p:cNvPr id="1048650" name="Rounded Rectangle 19"/>
          <p:cNvSpPr/>
          <p:nvPr/>
        </p:nvSpPr>
        <p:spPr>
          <a:xfrm>
            <a:off x="6263640" y="3703320"/>
            <a:ext cx="5074920" cy="960120"/>
          </a:xfrm>
          <a:prstGeom prst="roundRect"/>
          <a:solidFill>
            <a:srgbClr val="FFFFFF"/>
          </a:solidFill>
          <a:ln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51" name="Rectangle 20"/>
          <p:cNvSpPr/>
          <p:nvPr/>
        </p:nvSpPr>
        <p:spPr>
          <a:xfrm>
            <a:off x="6263640" y="3703320"/>
            <a:ext cx="64008" cy="960120"/>
          </a:xfrm>
          <a:prstGeom prst="rect"/>
          <a:solidFill>
            <a:srgbClr val="30B1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52" name="TextBox 21"/>
          <p:cNvSpPr txBox="1"/>
          <p:nvPr/>
        </p:nvSpPr>
        <p:spPr>
          <a:xfrm>
            <a:off x="6464807" y="4003294"/>
            <a:ext cx="4663440" cy="332740"/>
          </a:xfrm>
          <a:prstGeom prst="rect"/>
          <a:noFill/>
        </p:spPr>
        <p:txBody>
          <a:bodyPr anchor="ctr" wrap="square">
            <a:spAutoFit/>
          </a:bodyPr>
          <a:p>
            <a:pPr algn="l">
              <a:defRPr b="0" sz="1600">
                <a:solidFill>
                  <a:srgbClr val="2A3443"/>
                </a:solidFill>
                <a:latin typeface="Aptos"/>
              </a:defRPr>
            </a:pPr>
            <a:r>
              <a:t>Prometheus &amp; Grafana – Monitor applications</a:t>
            </a:r>
          </a:p>
        </p:txBody>
      </p:sp>
      <p:sp>
        <p:nvSpPr>
          <p:cNvPr id="1048653" name="Rounded Rectangle 22"/>
          <p:cNvSpPr/>
          <p:nvPr/>
        </p:nvSpPr>
        <p:spPr>
          <a:xfrm>
            <a:off x="685800" y="4937760"/>
            <a:ext cx="5074920" cy="960120"/>
          </a:xfrm>
          <a:prstGeom prst="roundRect"/>
          <a:solidFill>
            <a:srgbClr val="FFFFFF"/>
          </a:solidFill>
          <a:ln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54" name="Rectangle 23"/>
          <p:cNvSpPr/>
          <p:nvPr/>
        </p:nvSpPr>
        <p:spPr>
          <a:xfrm>
            <a:off x="685800" y="4937760"/>
            <a:ext cx="64008" cy="960120"/>
          </a:xfrm>
          <a:prstGeom prst="rect"/>
          <a:solidFill>
            <a:srgbClr val="309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55" name="TextBox 24"/>
          <p:cNvSpPr txBox="1"/>
          <p:nvPr/>
        </p:nvSpPr>
        <p:spPr>
          <a:xfrm>
            <a:off x="886968" y="5237734"/>
            <a:ext cx="4663440" cy="332740"/>
          </a:xfrm>
          <a:prstGeom prst="rect"/>
          <a:noFill/>
        </p:spPr>
        <p:txBody>
          <a:bodyPr anchor="ctr" wrap="square">
            <a:spAutoFit/>
          </a:bodyPr>
          <a:p>
            <a:pPr algn="l">
              <a:defRPr b="0" sz="1600">
                <a:solidFill>
                  <a:srgbClr val="2A3443"/>
                </a:solidFill>
                <a:latin typeface="Aptos"/>
              </a:defRPr>
            </a:pPr>
            <a:r>
              <a:t>Kafka / RabbitMQ – Exchange messages</a:t>
            </a:r>
          </a:p>
        </p:txBody>
      </p:sp>
      <p:sp>
        <p:nvSpPr>
          <p:cNvPr id="1048656" name="Rounded Rectangle 25"/>
          <p:cNvSpPr/>
          <p:nvPr/>
        </p:nvSpPr>
        <p:spPr>
          <a:xfrm>
            <a:off x="6263640" y="4937760"/>
            <a:ext cx="5074920" cy="960120"/>
          </a:xfrm>
          <a:prstGeom prst="roundRect"/>
          <a:solidFill>
            <a:srgbClr val="FFFFFF"/>
          </a:solidFill>
          <a:ln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57" name="Rectangle 26"/>
          <p:cNvSpPr/>
          <p:nvPr/>
        </p:nvSpPr>
        <p:spPr>
          <a:xfrm>
            <a:off x="6263640" y="4937760"/>
            <a:ext cx="64008" cy="960120"/>
          </a:xfrm>
          <a:prstGeom prst="rect"/>
          <a:solidFill>
            <a:srgbClr val="E18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58" name="TextBox 27"/>
          <p:cNvSpPr txBox="1"/>
          <p:nvPr/>
        </p:nvSpPr>
        <p:spPr>
          <a:xfrm>
            <a:off x="6464807" y="5237734"/>
            <a:ext cx="4663440" cy="332740"/>
          </a:xfrm>
          <a:prstGeom prst="rect"/>
          <a:noFill/>
        </p:spPr>
        <p:txBody>
          <a:bodyPr anchor="ctr" wrap="square">
            <a:spAutoFit/>
          </a:bodyPr>
          <a:p>
            <a:pPr algn="l">
              <a:defRPr b="0" sz="1600">
                <a:solidFill>
                  <a:srgbClr val="2A3443"/>
                </a:solidFill>
                <a:latin typeface="Aptos"/>
              </a:defRPr>
            </a:pPr>
            <a:r>
              <a:t>AWS / Azure / GCP – Cloud platforms</a:t>
            </a:r>
          </a:p>
        </p:txBody>
      </p:sp>
      <p:sp>
        <p:nvSpPr>
          <p:cNvPr id="1048659" name="TextBox 28"/>
          <p:cNvSpPr txBox="1"/>
          <p:nvPr/>
        </p:nvSpPr>
        <p:spPr>
          <a:xfrm>
            <a:off x="640080" y="6471666"/>
            <a:ext cx="5486400" cy="205740"/>
          </a:xfrm>
          <a:prstGeom prst="rect"/>
          <a:noFill/>
        </p:spPr>
        <p:txBody>
          <a:bodyPr anchor="ctr" wrap="square">
            <a:spAutoFit/>
          </a:bodyPr>
          <a:p>
            <a:pPr algn="l">
              <a:defRPr b="1" sz="800">
                <a:solidFill>
                  <a:srgbClr val="647080"/>
                </a:solidFill>
                <a:latin typeface="Aptos"/>
              </a:defRPr>
            </a:pPr>
            <a:r>
              <a:t>CLOUD-NATIVE COMPUTING AND MICROSERVICES</a:t>
            </a:r>
          </a:p>
        </p:txBody>
      </p:sp>
      <p:sp>
        <p:nvSpPr>
          <p:cNvPr id="1048660" name="TextBox 29"/>
          <p:cNvSpPr txBox="1"/>
          <p:nvPr/>
        </p:nvSpPr>
        <p:spPr>
          <a:xfrm>
            <a:off x="11064240" y="6473952"/>
            <a:ext cx="457200" cy="201168"/>
          </a:xfrm>
          <a:prstGeom prst="rect"/>
          <a:noFill/>
        </p:spPr>
        <p:txBody>
          <a:bodyPr anchor="ctr" wrap="square">
            <a:spAutoFit/>
          </a:bodyPr>
          <a:p>
            <a:pPr algn="r">
              <a:defRPr b="1" sz="900">
                <a:solidFill>
                  <a:srgbClr val="647080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/>
      </p:grpSpPr>
      <p:sp>
        <p:nvSpPr>
          <p:cNvPr id="1048661" name="Rectangle 1"/>
          <p:cNvSpPr/>
          <p:nvPr/>
        </p:nvSpPr>
        <p:spPr>
          <a:xfrm>
            <a:off x="0" y="0"/>
            <a:ext cx="12191695" cy="6858000"/>
          </a:xfrm>
          <a:prstGeom prst="rect"/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62" name="TextBox 2"/>
          <p:cNvSpPr txBox="1"/>
          <p:nvPr/>
        </p:nvSpPr>
        <p:spPr>
          <a:xfrm>
            <a:off x="640080" y="299719"/>
            <a:ext cx="502920" cy="269242"/>
          </a:xfrm>
          <a:prstGeom prst="rect"/>
          <a:noFill/>
        </p:spPr>
        <p:txBody>
          <a:bodyPr anchor="ctr" wrap="square">
            <a:spAutoFit/>
          </a:bodyPr>
          <a:p>
            <a:pPr algn="l">
              <a:defRPr b="1" sz="1200">
                <a:solidFill>
                  <a:srgbClr val="2770B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048663" name="TextBox 3"/>
          <p:cNvSpPr txBox="1"/>
          <p:nvPr/>
        </p:nvSpPr>
        <p:spPr>
          <a:xfrm>
            <a:off x="1234440" y="228600"/>
            <a:ext cx="10332720" cy="502920"/>
          </a:xfrm>
          <a:prstGeom prst="rect"/>
          <a:noFill/>
        </p:spPr>
        <p:txBody>
          <a:bodyPr anchor="ctr" wrap="square">
            <a:spAutoFit/>
          </a:bodyPr>
          <a:p>
            <a:pPr algn="l">
              <a:defRPr b="1" sz="2700">
                <a:solidFill>
                  <a:srgbClr val="0F1E34"/>
                </a:solidFill>
                <a:latin typeface="Aptos"/>
              </a:defRPr>
            </a:pPr>
            <a:r>
              <a:t>5. Applications / Real-World Use Cases</a:t>
            </a:r>
          </a:p>
        </p:txBody>
      </p:sp>
      <p:sp>
        <p:nvSpPr>
          <p:cNvPr id="1048664" name="Rounded Rectangle 4"/>
          <p:cNvSpPr/>
          <p:nvPr/>
        </p:nvSpPr>
        <p:spPr>
          <a:xfrm>
            <a:off x="822960" y="1325880"/>
            <a:ext cx="5074920" cy="1051560"/>
          </a:xfrm>
          <a:prstGeom prst="roundRect"/>
          <a:solidFill>
            <a:srgbClr val="FFFFFF"/>
          </a:solidFill>
          <a:ln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65" name="Rectangle 5"/>
          <p:cNvSpPr/>
          <p:nvPr/>
        </p:nvSpPr>
        <p:spPr>
          <a:xfrm>
            <a:off x="822960" y="1325880"/>
            <a:ext cx="64008" cy="1051560"/>
          </a:xfrm>
          <a:prstGeom prst="rect"/>
          <a:solidFill>
            <a:srgbClr val="C7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66" name="TextBox 6"/>
          <p:cNvSpPr txBox="1"/>
          <p:nvPr/>
        </p:nvSpPr>
        <p:spPr>
          <a:xfrm>
            <a:off x="1051560" y="1631441"/>
            <a:ext cx="4572000" cy="358140"/>
          </a:xfrm>
          <a:prstGeom prst="rect"/>
          <a:noFill/>
        </p:spPr>
        <p:txBody>
          <a:bodyPr anchor="ctr" wrap="square">
            <a:spAutoFit/>
          </a:bodyPr>
          <a:p>
            <a:pPr algn="l">
              <a:defRPr b="1" sz="1800">
                <a:solidFill>
                  <a:srgbClr val="2A3443"/>
                </a:solidFill>
                <a:latin typeface="Aptos"/>
              </a:defRPr>
            </a:pPr>
            <a:r>
              <a:t>Netflix – Video streaming</a:t>
            </a:r>
          </a:p>
        </p:txBody>
      </p:sp>
      <p:sp>
        <p:nvSpPr>
          <p:cNvPr id="1048667" name="Rounded Rectangle 7"/>
          <p:cNvSpPr/>
          <p:nvPr/>
        </p:nvSpPr>
        <p:spPr>
          <a:xfrm>
            <a:off x="6355080" y="1325880"/>
            <a:ext cx="5074920" cy="1051560"/>
          </a:xfrm>
          <a:prstGeom prst="roundRect"/>
          <a:solidFill>
            <a:srgbClr val="FFFFFF"/>
          </a:solidFill>
          <a:ln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68" name="Rectangle 8"/>
          <p:cNvSpPr/>
          <p:nvPr/>
        </p:nvSpPr>
        <p:spPr>
          <a:xfrm>
            <a:off x="6355080" y="1325880"/>
            <a:ext cx="64008" cy="1051560"/>
          </a:xfrm>
          <a:prstGeom prst="rect"/>
          <a:solidFill>
            <a:srgbClr val="E18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69" name="TextBox 9"/>
          <p:cNvSpPr txBox="1"/>
          <p:nvPr/>
        </p:nvSpPr>
        <p:spPr>
          <a:xfrm>
            <a:off x="6583680" y="1631441"/>
            <a:ext cx="4572000" cy="358140"/>
          </a:xfrm>
          <a:prstGeom prst="rect"/>
          <a:noFill/>
        </p:spPr>
        <p:txBody>
          <a:bodyPr anchor="ctr" wrap="square">
            <a:spAutoFit/>
          </a:bodyPr>
          <a:p>
            <a:pPr algn="l">
              <a:defRPr b="1" sz="1800">
                <a:solidFill>
                  <a:srgbClr val="2A3443"/>
                </a:solidFill>
                <a:latin typeface="Aptos"/>
              </a:defRPr>
            </a:pPr>
            <a:r>
              <a:t>Amazon – Online shopping</a:t>
            </a:r>
          </a:p>
        </p:txBody>
      </p:sp>
      <p:sp>
        <p:nvSpPr>
          <p:cNvPr id="1048670" name="Rounded Rectangle 10"/>
          <p:cNvSpPr/>
          <p:nvPr/>
        </p:nvSpPr>
        <p:spPr>
          <a:xfrm>
            <a:off x="822960" y="2743200"/>
            <a:ext cx="5074920" cy="1051560"/>
          </a:xfrm>
          <a:prstGeom prst="roundRect"/>
          <a:solidFill>
            <a:srgbClr val="FFFFFF"/>
          </a:solidFill>
          <a:ln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71" name="Rectangle 11"/>
          <p:cNvSpPr/>
          <p:nvPr/>
        </p:nvSpPr>
        <p:spPr>
          <a:xfrm>
            <a:off x="822960" y="2743200"/>
            <a:ext cx="64008" cy="1051560"/>
          </a:xfrm>
          <a:prstGeom prst="rect"/>
          <a:solidFill>
            <a:srgbClr val="2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72" name="TextBox 12"/>
          <p:cNvSpPr txBox="1"/>
          <p:nvPr/>
        </p:nvSpPr>
        <p:spPr>
          <a:xfrm>
            <a:off x="1051560" y="3048761"/>
            <a:ext cx="4572000" cy="358142"/>
          </a:xfrm>
          <a:prstGeom prst="rect"/>
          <a:noFill/>
        </p:spPr>
        <p:txBody>
          <a:bodyPr anchor="ctr" wrap="square">
            <a:spAutoFit/>
          </a:bodyPr>
          <a:p>
            <a:pPr algn="l">
              <a:defRPr b="1" sz="1800">
                <a:solidFill>
                  <a:srgbClr val="2A3443"/>
                </a:solidFill>
                <a:latin typeface="Aptos"/>
              </a:defRPr>
            </a:pPr>
            <a:r>
              <a:t>Uber – Ride matching and pricing</a:t>
            </a:r>
          </a:p>
        </p:txBody>
      </p:sp>
      <p:sp>
        <p:nvSpPr>
          <p:cNvPr id="1048673" name="Rounded Rectangle 13"/>
          <p:cNvSpPr/>
          <p:nvPr/>
        </p:nvSpPr>
        <p:spPr>
          <a:xfrm>
            <a:off x="6355080" y="2743200"/>
            <a:ext cx="5074920" cy="1051560"/>
          </a:xfrm>
          <a:prstGeom prst="roundRect"/>
          <a:solidFill>
            <a:srgbClr val="FFFFFF"/>
          </a:solidFill>
          <a:ln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74" name="Rectangle 14"/>
          <p:cNvSpPr/>
          <p:nvPr/>
        </p:nvSpPr>
        <p:spPr>
          <a:xfrm>
            <a:off x="6355080" y="2743200"/>
            <a:ext cx="64008" cy="1051560"/>
          </a:xfrm>
          <a:prstGeom prst="rect"/>
          <a:solidFill>
            <a:srgbClr val="309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75" name="TextBox 15"/>
          <p:cNvSpPr txBox="1"/>
          <p:nvPr/>
        </p:nvSpPr>
        <p:spPr>
          <a:xfrm>
            <a:off x="6583680" y="3048761"/>
            <a:ext cx="4572000" cy="358142"/>
          </a:xfrm>
          <a:prstGeom prst="rect"/>
          <a:noFill/>
        </p:spPr>
        <p:txBody>
          <a:bodyPr anchor="ctr" wrap="square">
            <a:spAutoFit/>
          </a:bodyPr>
          <a:p>
            <a:pPr algn="l">
              <a:defRPr b="1" sz="1800">
                <a:solidFill>
                  <a:srgbClr val="2A3443"/>
                </a:solidFill>
                <a:latin typeface="Aptos"/>
              </a:defRPr>
            </a:pPr>
            <a:r>
              <a:t>Spotify – Music streaming</a:t>
            </a:r>
          </a:p>
        </p:txBody>
      </p:sp>
      <p:sp>
        <p:nvSpPr>
          <p:cNvPr id="1048676" name="Rounded Rectangle 16"/>
          <p:cNvSpPr/>
          <p:nvPr/>
        </p:nvSpPr>
        <p:spPr>
          <a:xfrm>
            <a:off x="822960" y="4160520"/>
            <a:ext cx="5074920" cy="1051560"/>
          </a:xfrm>
          <a:prstGeom prst="roundRect"/>
          <a:solidFill>
            <a:srgbClr val="FFFFFF"/>
          </a:solidFill>
          <a:ln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77" name="Rectangle 17"/>
          <p:cNvSpPr/>
          <p:nvPr/>
        </p:nvSpPr>
        <p:spPr>
          <a:xfrm>
            <a:off x="822960" y="4160520"/>
            <a:ext cx="64008" cy="1051560"/>
          </a:xfrm>
          <a:prstGeom prst="rect"/>
          <a:solidFill>
            <a:srgbClr val="30B1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78" name="TextBox 18"/>
          <p:cNvSpPr txBox="1"/>
          <p:nvPr/>
        </p:nvSpPr>
        <p:spPr>
          <a:xfrm>
            <a:off x="1051560" y="4466082"/>
            <a:ext cx="4572000" cy="358140"/>
          </a:xfrm>
          <a:prstGeom prst="rect"/>
          <a:noFill/>
        </p:spPr>
        <p:txBody>
          <a:bodyPr anchor="ctr" wrap="square">
            <a:spAutoFit/>
          </a:bodyPr>
          <a:p>
            <a:pPr algn="l">
              <a:defRPr b="1" sz="1800">
                <a:solidFill>
                  <a:srgbClr val="2A3443"/>
                </a:solidFill>
                <a:latin typeface="Aptos"/>
              </a:defRPr>
            </a:pPr>
            <a:r>
              <a:t>Banking – Payments and fraud detection</a:t>
            </a:r>
          </a:p>
        </p:txBody>
      </p:sp>
      <p:sp>
        <p:nvSpPr>
          <p:cNvPr id="1048679" name="Rounded Rectangle 19"/>
          <p:cNvSpPr/>
          <p:nvPr/>
        </p:nvSpPr>
        <p:spPr>
          <a:xfrm>
            <a:off x="6355080" y="4160520"/>
            <a:ext cx="5074920" cy="1051560"/>
          </a:xfrm>
          <a:prstGeom prst="roundRect"/>
          <a:solidFill>
            <a:srgbClr val="FFFFFF"/>
          </a:solidFill>
          <a:ln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80" name="Rectangle 20"/>
          <p:cNvSpPr/>
          <p:nvPr/>
        </p:nvSpPr>
        <p:spPr>
          <a:xfrm>
            <a:off x="6355080" y="4160520"/>
            <a:ext cx="64008" cy="1051560"/>
          </a:xfrm>
          <a:prstGeom prst="rect"/>
          <a:solidFill>
            <a:srgbClr val="2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81" name="TextBox 21"/>
          <p:cNvSpPr txBox="1"/>
          <p:nvPr/>
        </p:nvSpPr>
        <p:spPr>
          <a:xfrm>
            <a:off x="6583680" y="4466082"/>
            <a:ext cx="4572000" cy="358140"/>
          </a:xfrm>
          <a:prstGeom prst="rect"/>
          <a:noFill/>
        </p:spPr>
        <p:txBody>
          <a:bodyPr anchor="ctr" wrap="square">
            <a:spAutoFit/>
          </a:bodyPr>
          <a:p>
            <a:pPr algn="l">
              <a:defRPr b="1" sz="1800">
                <a:solidFill>
                  <a:srgbClr val="2A3443"/>
                </a:solidFill>
                <a:latin typeface="Aptos"/>
              </a:defRPr>
            </a:pPr>
            <a:r>
              <a:t>IoT – Real-time device applications</a:t>
            </a:r>
          </a:p>
        </p:txBody>
      </p:sp>
      <p:sp>
        <p:nvSpPr>
          <p:cNvPr id="1048682" name="TextBox 22"/>
          <p:cNvSpPr txBox="1"/>
          <p:nvPr/>
        </p:nvSpPr>
        <p:spPr>
          <a:xfrm>
            <a:off x="640080" y="6471666"/>
            <a:ext cx="5486400" cy="205740"/>
          </a:xfrm>
          <a:prstGeom prst="rect"/>
          <a:noFill/>
        </p:spPr>
        <p:txBody>
          <a:bodyPr anchor="ctr" wrap="square">
            <a:spAutoFit/>
          </a:bodyPr>
          <a:p>
            <a:pPr algn="l">
              <a:defRPr b="1" sz="800">
                <a:solidFill>
                  <a:srgbClr val="647080"/>
                </a:solidFill>
                <a:latin typeface="Aptos"/>
              </a:defRPr>
            </a:pPr>
            <a:r>
              <a:t>CLOUD-NATIVE COMPUTING AND MICROSERVICES</a:t>
            </a:r>
          </a:p>
        </p:txBody>
      </p:sp>
      <p:sp>
        <p:nvSpPr>
          <p:cNvPr id="1048683" name="TextBox 23"/>
          <p:cNvSpPr txBox="1"/>
          <p:nvPr/>
        </p:nvSpPr>
        <p:spPr>
          <a:xfrm>
            <a:off x="11064240" y="6473952"/>
            <a:ext cx="457200" cy="201168"/>
          </a:xfrm>
          <a:prstGeom prst="rect"/>
          <a:noFill/>
        </p:spPr>
        <p:txBody>
          <a:bodyPr anchor="ctr" wrap="square">
            <a:spAutoFit/>
          </a:bodyPr>
          <a:p>
            <a:pPr algn="r">
              <a:defRPr b="1" sz="900">
                <a:solidFill>
                  <a:srgbClr val="647080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/>
      </p:grpSpPr>
      <p:sp>
        <p:nvSpPr>
          <p:cNvPr id="1048684" name="Rectangle 1"/>
          <p:cNvSpPr/>
          <p:nvPr/>
        </p:nvSpPr>
        <p:spPr>
          <a:xfrm>
            <a:off x="0" y="0"/>
            <a:ext cx="12191695" cy="6858000"/>
          </a:xfrm>
          <a:prstGeom prst="rect"/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85" name="TextBox 2"/>
          <p:cNvSpPr txBox="1"/>
          <p:nvPr/>
        </p:nvSpPr>
        <p:spPr>
          <a:xfrm>
            <a:off x="640080" y="299719"/>
            <a:ext cx="502920" cy="269242"/>
          </a:xfrm>
          <a:prstGeom prst="rect"/>
          <a:noFill/>
        </p:spPr>
        <p:txBody>
          <a:bodyPr anchor="ctr" wrap="square">
            <a:spAutoFit/>
          </a:bodyPr>
          <a:p>
            <a:pPr algn="l">
              <a:defRPr b="1" sz="1200">
                <a:solidFill>
                  <a:srgbClr val="2770B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1048686" name="TextBox 3"/>
          <p:cNvSpPr txBox="1"/>
          <p:nvPr/>
        </p:nvSpPr>
        <p:spPr>
          <a:xfrm>
            <a:off x="1234440" y="228600"/>
            <a:ext cx="10332720" cy="502920"/>
          </a:xfrm>
          <a:prstGeom prst="rect"/>
          <a:noFill/>
        </p:spPr>
        <p:txBody>
          <a:bodyPr anchor="ctr" wrap="square">
            <a:spAutoFit/>
          </a:bodyPr>
          <a:p>
            <a:pPr algn="l">
              <a:defRPr b="1" sz="2700">
                <a:solidFill>
                  <a:srgbClr val="0F1E34"/>
                </a:solidFill>
                <a:latin typeface="Aptos"/>
              </a:defRPr>
            </a:pPr>
            <a:r>
              <a:t>6. Advantages and Limitations</a:t>
            </a:r>
          </a:p>
        </p:txBody>
      </p:sp>
      <p:sp>
        <p:nvSpPr>
          <p:cNvPr id="1048687" name="Rounded Rectangle 4"/>
          <p:cNvSpPr/>
          <p:nvPr/>
        </p:nvSpPr>
        <p:spPr>
          <a:xfrm>
            <a:off x="685800" y="1234440"/>
            <a:ext cx="5257800" cy="4526280"/>
          </a:xfrm>
          <a:prstGeom prst="roundRect"/>
          <a:solidFill>
            <a:srgbClr val="FFFFFF"/>
          </a:solidFill>
          <a:ln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88" name="Rectangle 5"/>
          <p:cNvSpPr/>
          <p:nvPr/>
        </p:nvSpPr>
        <p:spPr>
          <a:xfrm>
            <a:off x="685800" y="1234440"/>
            <a:ext cx="64008" cy="4526280"/>
          </a:xfrm>
          <a:prstGeom prst="rect"/>
          <a:solidFill>
            <a:srgbClr val="309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89" name="TextBox 6"/>
          <p:cNvSpPr txBox="1"/>
          <p:nvPr/>
        </p:nvSpPr>
        <p:spPr>
          <a:xfrm>
            <a:off x="914400" y="1380744"/>
            <a:ext cx="4846320" cy="365760"/>
          </a:xfrm>
          <a:prstGeom prst="rect"/>
          <a:noFill/>
        </p:spPr>
        <p:txBody>
          <a:bodyPr anchor="ctr" wrap="square">
            <a:spAutoFit/>
          </a:bodyPr>
          <a:p>
            <a:pPr algn="l">
              <a:defRPr b="1" sz="1700">
                <a:solidFill>
                  <a:srgbClr val="0F1E34"/>
                </a:solidFill>
                <a:latin typeface="Aptos"/>
              </a:defRPr>
            </a:pPr>
            <a:r>
              <a:t>Advantages</a:t>
            </a:r>
          </a:p>
        </p:txBody>
      </p:sp>
      <p:sp>
        <p:nvSpPr>
          <p:cNvPr id="1048690" name="TextBox 7"/>
          <p:cNvSpPr txBox="1"/>
          <p:nvPr/>
        </p:nvSpPr>
        <p:spPr>
          <a:xfrm>
            <a:off x="914400" y="1856232"/>
            <a:ext cx="4846320" cy="2161541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1200"/>
              </a:spcAft>
              <a:defRPr sz="1900">
                <a:solidFill>
                  <a:srgbClr val="2A3443"/>
                </a:solidFill>
                <a:latin typeface="Aptos"/>
              </a:defRPr>
            </a:pPr>
            <a:r>
              <a:t>• Easy to scale</a:t>
            </a:r>
          </a:p>
          <a:p>
            <a:pPr>
              <a:spcAft>
                <a:spcPts val="1200"/>
              </a:spcAft>
              <a:defRPr sz="1900">
                <a:solidFill>
                  <a:srgbClr val="2A3443"/>
                </a:solidFill>
                <a:latin typeface="Aptos"/>
              </a:defRPr>
            </a:pPr>
            <a:r>
              <a:t>• Faster deployment</a:t>
            </a:r>
          </a:p>
          <a:p>
            <a:pPr>
              <a:spcAft>
                <a:spcPts val="1200"/>
              </a:spcAft>
              <a:defRPr sz="1900">
                <a:solidFill>
                  <a:srgbClr val="2A3443"/>
                </a:solidFill>
                <a:latin typeface="Aptos"/>
              </a:defRPr>
            </a:pPr>
            <a:r>
              <a:t>• Services can be updated separately</a:t>
            </a:r>
          </a:p>
          <a:p>
            <a:pPr>
              <a:spcAft>
                <a:spcPts val="1200"/>
              </a:spcAft>
              <a:defRPr sz="1900">
                <a:solidFill>
                  <a:srgbClr val="2A3443"/>
                </a:solidFill>
                <a:latin typeface="Aptos"/>
              </a:defRPr>
            </a:pPr>
            <a:r>
              <a:t>• Better fault handling</a:t>
            </a:r>
          </a:p>
          <a:p>
            <a:pPr>
              <a:spcAft>
                <a:spcPts val="1200"/>
              </a:spcAft>
              <a:defRPr sz="1900">
                <a:solidFill>
                  <a:srgbClr val="2A3443"/>
                </a:solidFill>
                <a:latin typeface="Aptos"/>
              </a:defRPr>
            </a:pPr>
            <a:r>
              <a:t>• Flexible technology choices</a:t>
            </a:r>
          </a:p>
        </p:txBody>
      </p:sp>
      <p:sp>
        <p:nvSpPr>
          <p:cNvPr id="1048691" name="Rounded Rectangle 8"/>
          <p:cNvSpPr/>
          <p:nvPr/>
        </p:nvSpPr>
        <p:spPr>
          <a:xfrm>
            <a:off x="6263640" y="1234440"/>
            <a:ext cx="5257800" cy="4526280"/>
          </a:xfrm>
          <a:prstGeom prst="roundRect"/>
          <a:solidFill>
            <a:srgbClr val="FFFFFF"/>
          </a:solidFill>
          <a:ln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92" name="Rectangle 9"/>
          <p:cNvSpPr/>
          <p:nvPr/>
        </p:nvSpPr>
        <p:spPr>
          <a:xfrm>
            <a:off x="6263640" y="1234440"/>
            <a:ext cx="64008" cy="4526280"/>
          </a:xfrm>
          <a:prstGeom prst="rect"/>
          <a:solidFill>
            <a:srgbClr val="C7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93" name="TextBox 10"/>
          <p:cNvSpPr txBox="1"/>
          <p:nvPr/>
        </p:nvSpPr>
        <p:spPr>
          <a:xfrm>
            <a:off x="6492240" y="1380744"/>
            <a:ext cx="4846320" cy="365760"/>
          </a:xfrm>
          <a:prstGeom prst="rect"/>
          <a:noFill/>
        </p:spPr>
        <p:txBody>
          <a:bodyPr anchor="ctr" wrap="square">
            <a:spAutoFit/>
          </a:bodyPr>
          <a:p>
            <a:pPr algn="l">
              <a:defRPr b="1" sz="1700">
                <a:solidFill>
                  <a:srgbClr val="0F1E34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1048694" name="TextBox 11"/>
          <p:cNvSpPr txBox="1"/>
          <p:nvPr/>
        </p:nvSpPr>
        <p:spPr>
          <a:xfrm>
            <a:off x="6492240" y="1856232"/>
            <a:ext cx="4846320" cy="2161541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1200"/>
              </a:spcAft>
              <a:defRPr sz="1900">
                <a:solidFill>
                  <a:srgbClr val="2A3443"/>
                </a:solidFill>
                <a:latin typeface="Aptos"/>
              </a:defRPr>
            </a:pPr>
            <a:r>
              <a:t>• More difficult to manage</a:t>
            </a:r>
          </a:p>
          <a:p>
            <a:pPr>
              <a:spcAft>
                <a:spcPts val="1200"/>
              </a:spcAft>
              <a:defRPr sz="1900">
                <a:solidFill>
                  <a:srgbClr val="2A3443"/>
                </a:solidFill>
                <a:latin typeface="Aptos"/>
              </a:defRPr>
            </a:pPr>
            <a:r>
              <a:t>• Network problems can occur</a:t>
            </a:r>
          </a:p>
          <a:p>
            <a:pPr>
              <a:spcAft>
                <a:spcPts val="1200"/>
              </a:spcAft>
              <a:defRPr sz="1900">
                <a:solidFill>
                  <a:srgbClr val="2A3443"/>
                </a:solidFill>
                <a:latin typeface="Aptos"/>
              </a:defRPr>
            </a:pPr>
            <a:r>
              <a:t>• Data management is harder</a:t>
            </a:r>
          </a:p>
          <a:p>
            <a:pPr>
              <a:spcAft>
                <a:spcPts val="1200"/>
              </a:spcAft>
              <a:defRPr sz="1900">
                <a:solidFill>
                  <a:srgbClr val="2A3443"/>
                </a:solidFill>
                <a:latin typeface="Aptos"/>
              </a:defRPr>
            </a:pPr>
            <a:r>
              <a:t>• Requires good monitoring</a:t>
            </a:r>
          </a:p>
          <a:p>
            <a:pPr>
              <a:spcAft>
                <a:spcPts val="1200"/>
              </a:spcAft>
              <a:defRPr sz="1900">
                <a:solidFill>
                  <a:srgbClr val="2A3443"/>
                </a:solidFill>
                <a:latin typeface="Aptos"/>
              </a:defRPr>
            </a:pPr>
            <a:r>
              <a:t>• Needs skilled engineers</a:t>
            </a:r>
          </a:p>
        </p:txBody>
      </p:sp>
      <p:sp>
        <p:nvSpPr>
          <p:cNvPr id="1048695" name="TextBox 12"/>
          <p:cNvSpPr txBox="1"/>
          <p:nvPr/>
        </p:nvSpPr>
        <p:spPr>
          <a:xfrm>
            <a:off x="640080" y="6471666"/>
            <a:ext cx="5486400" cy="205740"/>
          </a:xfrm>
          <a:prstGeom prst="rect"/>
          <a:noFill/>
        </p:spPr>
        <p:txBody>
          <a:bodyPr anchor="ctr" wrap="square">
            <a:spAutoFit/>
          </a:bodyPr>
          <a:p>
            <a:pPr algn="l">
              <a:defRPr b="1" sz="800">
                <a:solidFill>
                  <a:srgbClr val="647080"/>
                </a:solidFill>
                <a:latin typeface="Aptos"/>
              </a:defRPr>
            </a:pPr>
            <a:r>
              <a:t>CLOUD-NATIVE COMPUTING AND MICROSERVICES</a:t>
            </a:r>
          </a:p>
        </p:txBody>
      </p:sp>
      <p:sp>
        <p:nvSpPr>
          <p:cNvPr id="1048696" name="TextBox 13"/>
          <p:cNvSpPr txBox="1"/>
          <p:nvPr/>
        </p:nvSpPr>
        <p:spPr>
          <a:xfrm>
            <a:off x="11064240" y="6473952"/>
            <a:ext cx="457200" cy="201168"/>
          </a:xfrm>
          <a:prstGeom prst="rect"/>
          <a:noFill/>
        </p:spPr>
        <p:txBody>
          <a:bodyPr anchor="ctr" wrap="square">
            <a:spAutoFit/>
          </a:bodyPr>
          <a:p>
            <a:pPr algn="r">
              <a:defRPr b="1" sz="900">
                <a:solidFill>
                  <a:srgbClr val="647080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/>
      </p:grpSpPr>
      <p:sp>
        <p:nvSpPr>
          <p:cNvPr id="1048697" name="Rectangle 1"/>
          <p:cNvSpPr/>
          <p:nvPr/>
        </p:nvSpPr>
        <p:spPr>
          <a:xfrm>
            <a:off x="0" y="0"/>
            <a:ext cx="12191695" cy="6858000"/>
          </a:xfrm>
          <a:prstGeom prst="rect"/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98" name="TextBox 2"/>
          <p:cNvSpPr txBox="1"/>
          <p:nvPr/>
        </p:nvSpPr>
        <p:spPr>
          <a:xfrm>
            <a:off x="640080" y="299719"/>
            <a:ext cx="502920" cy="269242"/>
          </a:xfrm>
          <a:prstGeom prst="rect"/>
          <a:noFill/>
        </p:spPr>
        <p:txBody>
          <a:bodyPr anchor="ctr" wrap="square">
            <a:spAutoFit/>
          </a:bodyPr>
          <a:p>
            <a:pPr algn="l">
              <a:defRPr b="1" sz="1200">
                <a:solidFill>
                  <a:srgbClr val="2770BE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1048699" name="TextBox 3"/>
          <p:cNvSpPr txBox="1"/>
          <p:nvPr/>
        </p:nvSpPr>
        <p:spPr>
          <a:xfrm>
            <a:off x="1234440" y="228600"/>
            <a:ext cx="10332720" cy="502920"/>
          </a:xfrm>
          <a:prstGeom prst="rect"/>
          <a:noFill/>
        </p:spPr>
        <p:txBody>
          <a:bodyPr anchor="ctr" wrap="square">
            <a:spAutoFit/>
          </a:bodyPr>
          <a:p>
            <a:pPr algn="l">
              <a:defRPr b="1" sz="2700">
                <a:solidFill>
                  <a:srgbClr val="0F1E34"/>
                </a:solidFill>
                <a:latin typeface="Aptos"/>
              </a:defRPr>
            </a:pPr>
            <a:r>
              <a:t>7. Recent Developments and Trends</a:t>
            </a:r>
          </a:p>
        </p:txBody>
      </p:sp>
      <p:sp>
        <p:nvSpPr>
          <p:cNvPr id="1048700" name="TextBox 4"/>
          <p:cNvSpPr txBox="1"/>
          <p:nvPr/>
        </p:nvSpPr>
        <p:spPr>
          <a:xfrm>
            <a:off x="914400" y="1234440"/>
            <a:ext cx="10241280" cy="2758441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1200"/>
              </a:spcAft>
              <a:defRPr sz="2200">
                <a:solidFill>
                  <a:srgbClr val="2A3443"/>
                </a:solidFill>
                <a:latin typeface="Aptos"/>
              </a:defRPr>
            </a:pPr>
            <a:r>
              <a:t>• WebAssembly (WASM)</a:t>
            </a:r>
          </a:p>
          <a:p>
            <a:pPr>
              <a:spcAft>
                <a:spcPts val="1200"/>
              </a:spcAft>
              <a:defRPr sz="2200">
                <a:solidFill>
                  <a:srgbClr val="2A3443"/>
                </a:solidFill>
                <a:latin typeface="Aptos"/>
              </a:defRPr>
            </a:pPr>
            <a:r>
              <a:t>• GitOps</a:t>
            </a:r>
          </a:p>
          <a:p>
            <a:pPr>
              <a:spcAft>
                <a:spcPts val="1200"/>
              </a:spcAft>
              <a:defRPr sz="2200">
                <a:solidFill>
                  <a:srgbClr val="2A3443"/>
                </a:solidFill>
                <a:latin typeface="Aptos"/>
              </a:defRPr>
            </a:pPr>
            <a:r>
              <a:t>• AI-based monitoring</a:t>
            </a:r>
          </a:p>
          <a:p>
            <a:pPr>
              <a:spcAft>
                <a:spcPts val="1200"/>
              </a:spcAft>
              <a:defRPr sz="2200">
                <a:solidFill>
                  <a:srgbClr val="2A3443"/>
                </a:solidFill>
                <a:latin typeface="Aptos"/>
              </a:defRPr>
            </a:pPr>
            <a:r>
              <a:t>• Edge computing</a:t>
            </a:r>
          </a:p>
          <a:p>
            <a:pPr>
              <a:spcAft>
                <a:spcPts val="1200"/>
              </a:spcAft>
              <a:defRPr sz="2200">
                <a:solidFill>
                  <a:srgbClr val="2A3443"/>
                </a:solidFill>
                <a:latin typeface="Aptos"/>
              </a:defRPr>
            </a:pPr>
            <a:r>
              <a:t>• Platform engineering</a:t>
            </a:r>
          </a:p>
          <a:p>
            <a:pPr>
              <a:spcAft>
                <a:spcPts val="1200"/>
              </a:spcAft>
              <a:defRPr sz="2200">
                <a:solidFill>
                  <a:srgbClr val="2A3443"/>
                </a:solidFill>
                <a:latin typeface="Aptos"/>
              </a:defRPr>
            </a:pPr>
            <a:r>
              <a:t>• eBPF networking</a:t>
            </a:r>
          </a:p>
        </p:txBody>
      </p:sp>
      <p:sp>
        <p:nvSpPr>
          <p:cNvPr id="1048701" name="TextBox 5"/>
          <p:cNvSpPr txBox="1"/>
          <p:nvPr/>
        </p:nvSpPr>
        <p:spPr>
          <a:xfrm>
            <a:off x="640080" y="6471666"/>
            <a:ext cx="5486400" cy="205740"/>
          </a:xfrm>
          <a:prstGeom prst="rect"/>
          <a:noFill/>
        </p:spPr>
        <p:txBody>
          <a:bodyPr anchor="ctr" wrap="square">
            <a:spAutoFit/>
          </a:bodyPr>
          <a:p>
            <a:pPr algn="l">
              <a:defRPr b="1" sz="800">
                <a:solidFill>
                  <a:srgbClr val="647080"/>
                </a:solidFill>
                <a:latin typeface="Aptos"/>
              </a:defRPr>
            </a:pPr>
            <a:r>
              <a:t>CLOUD-NATIVE COMPUTING AND MICROSERVICES</a:t>
            </a:r>
          </a:p>
        </p:txBody>
      </p:sp>
      <p:sp>
        <p:nvSpPr>
          <p:cNvPr id="1048702" name="TextBox 6"/>
          <p:cNvSpPr txBox="1"/>
          <p:nvPr/>
        </p:nvSpPr>
        <p:spPr>
          <a:xfrm>
            <a:off x="11064240" y="6473952"/>
            <a:ext cx="457200" cy="201168"/>
          </a:xfrm>
          <a:prstGeom prst="rect"/>
          <a:noFill/>
        </p:spPr>
        <p:txBody>
          <a:bodyPr anchor="ctr" wrap="square">
            <a:spAutoFit/>
          </a:bodyPr>
          <a:p>
            <a:pPr algn="r">
              <a:defRPr b="1" sz="900">
                <a:solidFill>
                  <a:srgbClr val="647080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/>
      </p:grpSpPr>
      <p:sp>
        <p:nvSpPr>
          <p:cNvPr id="1048703" name="Rectangle 1"/>
          <p:cNvSpPr/>
          <p:nvPr/>
        </p:nvSpPr>
        <p:spPr>
          <a:xfrm>
            <a:off x="0" y="0"/>
            <a:ext cx="12191695" cy="6858000"/>
          </a:xfrm>
          <a:prstGeom prst="rect"/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04" name="TextBox 2"/>
          <p:cNvSpPr txBox="1"/>
          <p:nvPr/>
        </p:nvSpPr>
        <p:spPr>
          <a:xfrm>
            <a:off x="640080" y="299719"/>
            <a:ext cx="502920" cy="269242"/>
          </a:xfrm>
          <a:prstGeom prst="rect"/>
          <a:noFill/>
        </p:spPr>
        <p:txBody>
          <a:bodyPr anchor="ctr" wrap="square">
            <a:spAutoFit/>
          </a:bodyPr>
          <a:p>
            <a:pPr algn="l">
              <a:defRPr b="1" sz="1200">
                <a:solidFill>
                  <a:srgbClr val="2770BE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1048705" name="TextBox 3"/>
          <p:cNvSpPr txBox="1"/>
          <p:nvPr/>
        </p:nvSpPr>
        <p:spPr>
          <a:xfrm>
            <a:off x="1234440" y="228600"/>
            <a:ext cx="10332720" cy="502920"/>
          </a:xfrm>
          <a:prstGeom prst="rect"/>
          <a:noFill/>
        </p:spPr>
        <p:txBody>
          <a:bodyPr anchor="ctr" wrap="square">
            <a:spAutoFit/>
          </a:bodyPr>
          <a:p>
            <a:pPr algn="l">
              <a:defRPr b="1" sz="2700">
                <a:solidFill>
                  <a:srgbClr val="0F1E34"/>
                </a:solidFill>
                <a:latin typeface="Aptos"/>
              </a:defRPr>
            </a:pPr>
            <a:r>
              <a:t>8. Challenges and Future Scope</a:t>
            </a:r>
          </a:p>
        </p:txBody>
      </p:sp>
      <p:sp>
        <p:nvSpPr>
          <p:cNvPr id="1048706" name="Rounded Rectangle 4"/>
          <p:cNvSpPr/>
          <p:nvPr/>
        </p:nvSpPr>
        <p:spPr>
          <a:xfrm>
            <a:off x="685800" y="1234440"/>
            <a:ext cx="5257800" cy="4526280"/>
          </a:xfrm>
          <a:prstGeom prst="roundRect"/>
          <a:solidFill>
            <a:srgbClr val="FFFFFF"/>
          </a:solidFill>
          <a:ln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07" name="Rectangle 5"/>
          <p:cNvSpPr/>
          <p:nvPr/>
        </p:nvSpPr>
        <p:spPr>
          <a:xfrm>
            <a:off x="685800" y="1234440"/>
            <a:ext cx="64008" cy="4526280"/>
          </a:xfrm>
          <a:prstGeom prst="rect"/>
          <a:solidFill>
            <a:srgbClr val="C7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08" name="TextBox 6"/>
          <p:cNvSpPr txBox="1"/>
          <p:nvPr/>
        </p:nvSpPr>
        <p:spPr>
          <a:xfrm>
            <a:off x="914400" y="1380744"/>
            <a:ext cx="4846320" cy="365760"/>
          </a:xfrm>
          <a:prstGeom prst="rect"/>
          <a:noFill/>
        </p:spPr>
        <p:txBody>
          <a:bodyPr anchor="ctr" wrap="square">
            <a:spAutoFit/>
          </a:bodyPr>
          <a:p>
            <a:pPr algn="l">
              <a:defRPr b="1" sz="1700">
                <a:solidFill>
                  <a:srgbClr val="0F1E34"/>
                </a:solidFill>
                <a:latin typeface="Aptos"/>
              </a:defRPr>
            </a:pPr>
            <a:r>
              <a:t>Challenges</a:t>
            </a:r>
          </a:p>
        </p:txBody>
      </p:sp>
      <p:sp>
        <p:nvSpPr>
          <p:cNvPr id="1048709" name="TextBox 7"/>
          <p:cNvSpPr txBox="1"/>
          <p:nvPr/>
        </p:nvSpPr>
        <p:spPr>
          <a:xfrm>
            <a:off x="914400" y="1856232"/>
            <a:ext cx="4846320" cy="2034541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1200"/>
              </a:spcAft>
              <a:defRPr sz="1800">
                <a:solidFill>
                  <a:srgbClr val="2A3443"/>
                </a:solidFill>
                <a:latin typeface="Aptos"/>
              </a:defRPr>
            </a:pPr>
            <a:r>
              <a:t>• Managing many services</a:t>
            </a:r>
          </a:p>
          <a:p>
            <a:pPr>
              <a:spcAft>
                <a:spcPts val="1200"/>
              </a:spcAft>
              <a:defRPr sz="1800">
                <a:solidFill>
                  <a:srgbClr val="2A3443"/>
                </a:solidFill>
                <a:latin typeface="Aptos"/>
              </a:defRPr>
            </a:pPr>
            <a:r>
              <a:t>• Security between services</a:t>
            </a:r>
          </a:p>
          <a:p>
            <a:pPr>
              <a:spcAft>
                <a:spcPts val="1200"/>
              </a:spcAft>
              <a:defRPr sz="1800">
                <a:solidFill>
                  <a:srgbClr val="2A3443"/>
                </a:solidFill>
                <a:latin typeface="Aptos"/>
              </a:defRPr>
            </a:pPr>
            <a:r>
              <a:t>• Controlling cloud costs</a:t>
            </a:r>
          </a:p>
          <a:p>
            <a:pPr>
              <a:spcAft>
                <a:spcPts val="1200"/>
              </a:spcAft>
              <a:defRPr sz="1800">
                <a:solidFill>
                  <a:srgbClr val="2A3443"/>
                </a:solidFill>
                <a:latin typeface="Aptos"/>
              </a:defRPr>
            </a:pPr>
            <a:r>
              <a:t>• Data consistency</a:t>
            </a:r>
          </a:p>
          <a:p>
            <a:pPr>
              <a:spcAft>
                <a:spcPts val="1200"/>
              </a:spcAft>
              <a:defRPr sz="1800">
                <a:solidFill>
                  <a:srgbClr val="2A3443"/>
                </a:solidFill>
                <a:latin typeface="Aptos"/>
              </a:defRPr>
            </a:pPr>
            <a:r>
              <a:t>• Lack of skilled professionals</a:t>
            </a:r>
          </a:p>
        </p:txBody>
      </p:sp>
      <p:sp>
        <p:nvSpPr>
          <p:cNvPr id="1048710" name="Rounded Rectangle 8"/>
          <p:cNvSpPr/>
          <p:nvPr/>
        </p:nvSpPr>
        <p:spPr>
          <a:xfrm>
            <a:off x="6263640" y="1234440"/>
            <a:ext cx="5257800" cy="4526280"/>
          </a:xfrm>
          <a:prstGeom prst="roundRect"/>
          <a:solidFill>
            <a:srgbClr val="FFFFFF"/>
          </a:solidFill>
          <a:ln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11" name="Rectangle 9"/>
          <p:cNvSpPr/>
          <p:nvPr/>
        </p:nvSpPr>
        <p:spPr>
          <a:xfrm>
            <a:off x="6263640" y="1234440"/>
            <a:ext cx="64008" cy="4526280"/>
          </a:xfrm>
          <a:prstGeom prst="rect"/>
          <a:solidFill>
            <a:srgbClr val="309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12" name="TextBox 10"/>
          <p:cNvSpPr txBox="1"/>
          <p:nvPr/>
        </p:nvSpPr>
        <p:spPr>
          <a:xfrm>
            <a:off x="6492240" y="1380744"/>
            <a:ext cx="4846320" cy="365760"/>
          </a:xfrm>
          <a:prstGeom prst="rect"/>
          <a:noFill/>
        </p:spPr>
        <p:txBody>
          <a:bodyPr anchor="ctr" wrap="square">
            <a:spAutoFit/>
          </a:bodyPr>
          <a:p>
            <a:pPr algn="l">
              <a:defRPr b="1" sz="1700">
                <a:solidFill>
                  <a:srgbClr val="0F1E34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1048713" name="TextBox 11"/>
          <p:cNvSpPr txBox="1"/>
          <p:nvPr/>
        </p:nvSpPr>
        <p:spPr>
          <a:xfrm>
            <a:off x="6492240" y="1856232"/>
            <a:ext cx="4846320" cy="2034541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1200"/>
              </a:spcAft>
              <a:defRPr sz="1800">
                <a:solidFill>
                  <a:srgbClr val="2A3443"/>
                </a:solidFill>
                <a:latin typeface="Aptos"/>
              </a:defRPr>
            </a:pPr>
            <a:r>
              <a:t>• More use of AI</a:t>
            </a:r>
          </a:p>
          <a:p>
            <a:pPr>
              <a:spcAft>
                <a:spcPts val="1200"/>
              </a:spcAft>
              <a:defRPr sz="1800">
                <a:solidFill>
                  <a:srgbClr val="2A3443"/>
                </a:solidFill>
                <a:latin typeface="Aptos"/>
              </a:defRPr>
            </a:pPr>
            <a:r>
              <a:t>• Self-healing applications</a:t>
            </a:r>
          </a:p>
          <a:p>
            <a:pPr>
              <a:spcAft>
                <a:spcPts val="1200"/>
              </a:spcAft>
              <a:defRPr sz="1800">
                <a:solidFill>
                  <a:srgbClr val="2A3443"/>
                </a:solidFill>
                <a:latin typeface="Aptos"/>
              </a:defRPr>
            </a:pPr>
            <a:r>
              <a:t>• More edge computing</a:t>
            </a:r>
          </a:p>
          <a:p>
            <a:pPr>
              <a:spcAft>
                <a:spcPts val="1200"/>
              </a:spcAft>
              <a:defRPr sz="1800">
                <a:solidFill>
                  <a:srgbClr val="2A3443"/>
                </a:solidFill>
                <a:latin typeface="Aptos"/>
              </a:defRPr>
            </a:pPr>
            <a:r>
              <a:t>• Better developer platforms</a:t>
            </a:r>
          </a:p>
          <a:p>
            <a:pPr>
              <a:spcAft>
                <a:spcPts val="1200"/>
              </a:spcAft>
              <a:defRPr sz="1800">
                <a:solidFill>
                  <a:srgbClr val="2A3443"/>
                </a:solidFill>
                <a:latin typeface="Aptos"/>
              </a:defRPr>
            </a:pPr>
            <a:r>
              <a:t>• Energy-efficient cloud systems</a:t>
            </a:r>
          </a:p>
        </p:txBody>
      </p:sp>
      <p:sp>
        <p:nvSpPr>
          <p:cNvPr id="1048714" name="TextBox 12"/>
          <p:cNvSpPr txBox="1"/>
          <p:nvPr/>
        </p:nvSpPr>
        <p:spPr>
          <a:xfrm>
            <a:off x="640080" y="6471666"/>
            <a:ext cx="5486400" cy="205740"/>
          </a:xfrm>
          <a:prstGeom prst="rect"/>
          <a:noFill/>
        </p:spPr>
        <p:txBody>
          <a:bodyPr anchor="ctr" wrap="square">
            <a:spAutoFit/>
          </a:bodyPr>
          <a:p>
            <a:pPr algn="l">
              <a:defRPr b="1" sz="800">
                <a:solidFill>
                  <a:srgbClr val="647080"/>
                </a:solidFill>
                <a:latin typeface="Aptos"/>
              </a:defRPr>
            </a:pPr>
            <a:r>
              <a:t>CLOUD-NATIVE COMPUTING AND MICROSERVICES</a:t>
            </a:r>
          </a:p>
        </p:txBody>
      </p:sp>
      <p:sp>
        <p:nvSpPr>
          <p:cNvPr id="1048715" name="TextBox 13"/>
          <p:cNvSpPr txBox="1"/>
          <p:nvPr/>
        </p:nvSpPr>
        <p:spPr>
          <a:xfrm>
            <a:off x="11064240" y="6473952"/>
            <a:ext cx="457200" cy="201168"/>
          </a:xfrm>
          <a:prstGeom prst="rect"/>
          <a:noFill/>
        </p:spPr>
        <p:txBody>
          <a:bodyPr anchor="ctr" wrap="square">
            <a:spAutoFit/>
          </a:bodyPr>
          <a:p>
            <a:pPr algn="r">
              <a:defRPr b="1" sz="900">
                <a:solidFill>
                  <a:srgbClr val="647080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/>
      </p:grpSpPr>
      <p:sp>
        <p:nvSpPr>
          <p:cNvPr id="1048716" name="Rectangle 1"/>
          <p:cNvSpPr/>
          <p:nvPr/>
        </p:nvSpPr>
        <p:spPr>
          <a:xfrm>
            <a:off x="0" y="0"/>
            <a:ext cx="12191695" cy="6858000"/>
          </a:xfrm>
          <a:prstGeom prst="rect"/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17" name="TextBox 2"/>
          <p:cNvSpPr txBox="1"/>
          <p:nvPr/>
        </p:nvSpPr>
        <p:spPr>
          <a:xfrm>
            <a:off x="640080" y="299719"/>
            <a:ext cx="502920" cy="269242"/>
          </a:xfrm>
          <a:prstGeom prst="rect"/>
          <a:noFill/>
        </p:spPr>
        <p:txBody>
          <a:bodyPr anchor="ctr" wrap="square">
            <a:spAutoFit/>
          </a:bodyPr>
          <a:p>
            <a:pPr algn="l">
              <a:defRPr b="1" sz="1200">
                <a:solidFill>
                  <a:srgbClr val="2770BE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1048718" name="TextBox 3"/>
          <p:cNvSpPr txBox="1"/>
          <p:nvPr/>
        </p:nvSpPr>
        <p:spPr>
          <a:xfrm>
            <a:off x="1234440" y="228600"/>
            <a:ext cx="10332720" cy="502920"/>
          </a:xfrm>
          <a:prstGeom prst="rect"/>
          <a:noFill/>
        </p:spPr>
        <p:txBody>
          <a:bodyPr anchor="ctr" wrap="square">
            <a:spAutoFit/>
          </a:bodyPr>
          <a:p>
            <a:pPr algn="l">
              <a:defRPr b="1" sz="2700">
                <a:solidFill>
                  <a:srgbClr val="0F1E34"/>
                </a:solidFill>
                <a:latin typeface="Aptos"/>
              </a:defRPr>
            </a:pPr>
            <a:r>
              <a:t>9. Case Study – Netflix</a:t>
            </a:r>
          </a:p>
        </p:txBody>
      </p:sp>
      <p:sp>
        <p:nvSpPr>
          <p:cNvPr id="1048719" name="TextBox 4"/>
          <p:cNvSpPr txBox="1"/>
          <p:nvPr/>
        </p:nvSpPr>
        <p:spPr>
          <a:xfrm>
            <a:off x="914400" y="1234440"/>
            <a:ext cx="10241280" cy="2682241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1200"/>
              </a:spcAft>
              <a:defRPr sz="2100">
                <a:solidFill>
                  <a:srgbClr val="2A3443"/>
                </a:solidFill>
                <a:latin typeface="Aptos"/>
              </a:defRPr>
            </a:pPr>
            <a:r>
              <a:t>• Netflix moved toward cloud-based systems</a:t>
            </a:r>
          </a:p>
          <a:p>
            <a:pPr>
              <a:spcAft>
                <a:spcPts val="1200"/>
              </a:spcAft>
              <a:defRPr sz="2100">
                <a:solidFill>
                  <a:srgbClr val="2A3443"/>
                </a:solidFill>
                <a:latin typeface="Aptos"/>
              </a:defRPr>
            </a:pPr>
            <a:r>
              <a:t>• Uses microservices for different functions</a:t>
            </a:r>
          </a:p>
          <a:p>
            <a:pPr>
              <a:spcAft>
                <a:spcPts val="1200"/>
              </a:spcAft>
              <a:defRPr sz="2100">
                <a:solidFill>
                  <a:srgbClr val="2A3443"/>
                </a:solidFill>
                <a:latin typeface="Aptos"/>
              </a:defRPr>
            </a:pPr>
            <a:r>
              <a:t>• Services can be scaled independently</a:t>
            </a:r>
          </a:p>
          <a:p>
            <a:pPr>
              <a:spcAft>
                <a:spcPts val="1200"/>
              </a:spcAft>
              <a:defRPr sz="2100">
                <a:solidFill>
                  <a:srgbClr val="2A3443"/>
                </a:solidFill>
                <a:latin typeface="Aptos"/>
              </a:defRPr>
            </a:pPr>
            <a:r>
              <a:t>• Uses AWS cloud infrastructure</a:t>
            </a:r>
          </a:p>
          <a:p>
            <a:pPr>
              <a:spcAft>
                <a:spcPts val="1200"/>
              </a:spcAft>
              <a:defRPr sz="2100">
                <a:solidFill>
                  <a:srgbClr val="2A3443"/>
                </a:solidFill>
                <a:latin typeface="Aptos"/>
              </a:defRPr>
            </a:pPr>
            <a:r>
              <a:t>• Uses failure testing to improve reliability</a:t>
            </a:r>
          </a:p>
          <a:p>
            <a:pPr>
              <a:spcAft>
                <a:spcPts val="1200"/>
              </a:spcAft>
              <a:defRPr sz="2100">
                <a:solidFill>
                  <a:srgbClr val="2A3443"/>
                </a:solidFill>
                <a:latin typeface="Aptos"/>
              </a:defRPr>
            </a:pPr>
            <a:r>
              <a:t>• Supports frequent application updates</a:t>
            </a:r>
          </a:p>
        </p:txBody>
      </p:sp>
      <p:sp>
        <p:nvSpPr>
          <p:cNvPr id="1048720" name="TextBox 5"/>
          <p:cNvSpPr txBox="1"/>
          <p:nvPr/>
        </p:nvSpPr>
        <p:spPr>
          <a:xfrm>
            <a:off x="640080" y="6471666"/>
            <a:ext cx="5486400" cy="205740"/>
          </a:xfrm>
          <a:prstGeom prst="rect"/>
          <a:noFill/>
        </p:spPr>
        <p:txBody>
          <a:bodyPr anchor="ctr" wrap="square">
            <a:spAutoFit/>
          </a:bodyPr>
          <a:p>
            <a:pPr algn="l">
              <a:defRPr b="1" sz="800">
                <a:solidFill>
                  <a:srgbClr val="647080"/>
                </a:solidFill>
                <a:latin typeface="Aptos"/>
              </a:defRPr>
            </a:pPr>
            <a:r>
              <a:t>CLOUD-NATIVE COMPUTING AND MICROSERVICES</a:t>
            </a:r>
          </a:p>
        </p:txBody>
      </p:sp>
      <p:sp>
        <p:nvSpPr>
          <p:cNvPr id="1048721" name="TextBox 6"/>
          <p:cNvSpPr txBox="1"/>
          <p:nvPr/>
        </p:nvSpPr>
        <p:spPr>
          <a:xfrm>
            <a:off x="11064240" y="6473952"/>
            <a:ext cx="457200" cy="201168"/>
          </a:xfrm>
          <a:prstGeom prst="rect"/>
          <a:noFill/>
        </p:spPr>
        <p:txBody>
          <a:bodyPr anchor="ctr" wrap="square">
            <a:spAutoFit/>
          </a:bodyPr>
          <a:p>
            <a:pPr algn="r">
              <a:defRPr b="1" sz="900">
                <a:solidFill>
                  <a:srgbClr val="647080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/>
      </p:grpSpPr>
      <p:sp>
        <p:nvSpPr>
          <p:cNvPr id="1048722" name="Rectangle 1"/>
          <p:cNvSpPr/>
          <p:nvPr/>
        </p:nvSpPr>
        <p:spPr>
          <a:xfrm>
            <a:off x="0" y="0"/>
            <a:ext cx="12191695" cy="6858000"/>
          </a:xfrm>
          <a:prstGeom prst="rect"/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23" name="TextBox 2"/>
          <p:cNvSpPr txBox="1"/>
          <p:nvPr/>
        </p:nvSpPr>
        <p:spPr>
          <a:xfrm>
            <a:off x="640080" y="299719"/>
            <a:ext cx="502920" cy="269242"/>
          </a:xfrm>
          <a:prstGeom prst="rect"/>
          <a:noFill/>
        </p:spPr>
        <p:txBody>
          <a:bodyPr anchor="ctr" wrap="square">
            <a:spAutoFit/>
          </a:bodyPr>
          <a:p>
            <a:pPr algn="l">
              <a:defRPr b="1" sz="1200">
                <a:solidFill>
                  <a:srgbClr val="2770BE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048724" name="TextBox 3"/>
          <p:cNvSpPr txBox="1"/>
          <p:nvPr/>
        </p:nvSpPr>
        <p:spPr>
          <a:xfrm>
            <a:off x="1234440" y="228600"/>
            <a:ext cx="10332720" cy="502920"/>
          </a:xfrm>
          <a:prstGeom prst="rect"/>
          <a:noFill/>
        </p:spPr>
        <p:txBody>
          <a:bodyPr anchor="ctr" wrap="square">
            <a:spAutoFit/>
          </a:bodyPr>
          <a:p>
            <a:pPr algn="l">
              <a:defRPr b="1" sz="2700">
                <a:solidFill>
                  <a:srgbClr val="0F1E34"/>
                </a:solidFill>
                <a:latin typeface="Aptos"/>
              </a:defRPr>
            </a:pPr>
            <a:r>
              <a:t>10. Conclusion and References</a:t>
            </a:r>
          </a:p>
        </p:txBody>
      </p:sp>
      <p:sp>
        <p:nvSpPr>
          <p:cNvPr id="1048725" name="Rounded Rectangle 4"/>
          <p:cNvSpPr/>
          <p:nvPr/>
        </p:nvSpPr>
        <p:spPr>
          <a:xfrm>
            <a:off x="685800" y="1143000"/>
            <a:ext cx="5212080" cy="4480560"/>
          </a:xfrm>
          <a:prstGeom prst="roundRect"/>
          <a:solidFill>
            <a:srgbClr val="FFFFFF"/>
          </a:solidFill>
          <a:ln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26" name="Rectangle 5"/>
          <p:cNvSpPr/>
          <p:nvPr/>
        </p:nvSpPr>
        <p:spPr>
          <a:xfrm>
            <a:off x="685800" y="1143000"/>
            <a:ext cx="64008" cy="4480560"/>
          </a:xfrm>
          <a:prstGeom prst="rect"/>
          <a:solidFill>
            <a:srgbClr val="2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27" name="TextBox 6"/>
          <p:cNvSpPr txBox="1"/>
          <p:nvPr/>
        </p:nvSpPr>
        <p:spPr>
          <a:xfrm>
            <a:off x="914400" y="1289304"/>
            <a:ext cx="4800600" cy="365760"/>
          </a:xfrm>
          <a:prstGeom prst="rect"/>
          <a:noFill/>
        </p:spPr>
        <p:txBody>
          <a:bodyPr anchor="ctr" wrap="square">
            <a:spAutoFit/>
          </a:bodyPr>
          <a:p>
            <a:pPr algn="l">
              <a:defRPr b="1" sz="1700">
                <a:solidFill>
                  <a:srgbClr val="0F1E34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1048728" name="TextBox 7"/>
          <p:cNvSpPr txBox="1"/>
          <p:nvPr/>
        </p:nvSpPr>
        <p:spPr>
          <a:xfrm>
            <a:off x="914400" y="1764792"/>
            <a:ext cx="4800600" cy="254254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1200"/>
              </a:spcAft>
              <a:defRPr sz="1600">
                <a:solidFill>
                  <a:srgbClr val="2A3443"/>
                </a:solidFill>
                <a:latin typeface="Aptos"/>
              </a:defRPr>
            </a:pPr>
            <a:r>
              <a:t>• Cloud-native technology supports modern applications</a:t>
            </a:r>
          </a:p>
          <a:p>
            <a:pPr>
              <a:spcAft>
                <a:spcPts val="1200"/>
              </a:spcAft>
              <a:defRPr sz="1600">
                <a:solidFill>
                  <a:srgbClr val="2A3443"/>
                </a:solidFill>
                <a:latin typeface="Aptos"/>
              </a:defRPr>
            </a:pPr>
            <a:r>
              <a:t>• Microservices make applications more flexible</a:t>
            </a:r>
          </a:p>
          <a:p>
            <a:pPr>
              <a:spcAft>
                <a:spcPts val="1200"/>
              </a:spcAft>
              <a:defRPr sz="1600">
                <a:solidFill>
                  <a:srgbClr val="2A3443"/>
                </a:solidFill>
                <a:latin typeface="Aptos"/>
              </a:defRPr>
            </a:pPr>
            <a:r>
              <a:t>• Containers help run applications consistently</a:t>
            </a:r>
          </a:p>
          <a:p>
            <a:pPr>
              <a:spcAft>
                <a:spcPts val="1200"/>
              </a:spcAft>
              <a:defRPr sz="1600">
                <a:solidFill>
                  <a:srgbClr val="2A3443"/>
                </a:solidFill>
                <a:latin typeface="Aptos"/>
              </a:defRPr>
            </a:pPr>
            <a:r>
              <a:t>• Kubernetes helps manage applications</a:t>
            </a:r>
          </a:p>
          <a:p>
            <a:pPr>
              <a:spcAft>
                <a:spcPts val="1200"/>
              </a:spcAft>
              <a:defRPr sz="1600">
                <a:solidFill>
                  <a:srgbClr val="2A3443"/>
                </a:solidFill>
                <a:latin typeface="Aptos"/>
              </a:defRPr>
            </a:pPr>
            <a:r>
              <a:t>• It provides scalability and reliability</a:t>
            </a:r>
          </a:p>
          <a:p>
            <a:pPr>
              <a:spcAft>
                <a:spcPts val="1200"/>
              </a:spcAft>
              <a:defRPr sz="1600">
                <a:solidFill>
                  <a:srgbClr val="2A3443"/>
                </a:solidFill>
                <a:latin typeface="Aptos"/>
              </a:defRPr>
            </a:pPr>
            <a:r>
              <a:t>• Future systems will use more AI and automation</a:t>
            </a:r>
          </a:p>
        </p:txBody>
      </p:sp>
      <p:sp>
        <p:nvSpPr>
          <p:cNvPr id="1048729" name="Rounded Rectangle 8"/>
          <p:cNvSpPr/>
          <p:nvPr/>
        </p:nvSpPr>
        <p:spPr>
          <a:xfrm>
            <a:off x="6217920" y="1143000"/>
            <a:ext cx="5212080" cy="4480560"/>
          </a:xfrm>
          <a:prstGeom prst="roundRect"/>
          <a:solidFill>
            <a:srgbClr val="FFFFFF"/>
          </a:solidFill>
          <a:ln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30" name="Rectangle 9"/>
          <p:cNvSpPr/>
          <p:nvPr/>
        </p:nvSpPr>
        <p:spPr>
          <a:xfrm>
            <a:off x="6217920" y="1143000"/>
            <a:ext cx="64008" cy="4480560"/>
          </a:xfrm>
          <a:prstGeom prst="rect"/>
          <a:solidFill>
            <a:srgbClr val="309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31" name="TextBox 10"/>
          <p:cNvSpPr txBox="1"/>
          <p:nvPr/>
        </p:nvSpPr>
        <p:spPr>
          <a:xfrm>
            <a:off x="6446520" y="1289304"/>
            <a:ext cx="4800600" cy="365760"/>
          </a:xfrm>
          <a:prstGeom prst="rect"/>
          <a:noFill/>
        </p:spPr>
        <p:txBody>
          <a:bodyPr anchor="ctr" wrap="square">
            <a:spAutoFit/>
          </a:bodyPr>
          <a:p>
            <a:pPr algn="l">
              <a:defRPr b="1" sz="1700">
                <a:solidFill>
                  <a:srgbClr val="0F1E34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1048732" name="TextBox 11"/>
          <p:cNvSpPr txBox="1"/>
          <p:nvPr/>
        </p:nvSpPr>
        <p:spPr>
          <a:xfrm>
            <a:off x="6446520" y="1764792"/>
            <a:ext cx="4800600" cy="151384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1200"/>
              </a:spcAft>
              <a:defRPr sz="1600">
                <a:solidFill>
                  <a:srgbClr val="2A3443"/>
                </a:solidFill>
                <a:latin typeface="Aptos"/>
              </a:defRPr>
            </a:pPr>
            <a:r>
              <a:t>• Cloud Native Computing Foundation (CNCF)</a:t>
            </a:r>
          </a:p>
          <a:p>
            <a:pPr>
              <a:spcAft>
                <a:spcPts val="1200"/>
              </a:spcAft>
              <a:defRPr sz="1600">
                <a:solidFill>
                  <a:srgbClr val="2A3443"/>
                </a:solidFill>
                <a:latin typeface="Aptos"/>
              </a:defRPr>
            </a:pPr>
            <a:r>
              <a:t>• Kubernetes Documentation</a:t>
            </a:r>
          </a:p>
          <a:p>
            <a:pPr>
              <a:spcAft>
                <a:spcPts val="1200"/>
              </a:spcAft>
              <a:defRPr sz="1600">
                <a:solidFill>
                  <a:srgbClr val="2A3443"/>
                </a:solidFill>
                <a:latin typeface="Aptos"/>
              </a:defRPr>
            </a:pPr>
            <a:r>
              <a:t>• AWS Cloud-Native Resources</a:t>
            </a:r>
          </a:p>
          <a:p>
            <a:pPr>
              <a:spcAft>
                <a:spcPts val="1200"/>
              </a:spcAft>
              <a:defRPr sz="1600">
                <a:solidFill>
                  <a:srgbClr val="2A3443"/>
                </a:solidFill>
                <a:latin typeface="Aptos"/>
              </a:defRPr>
            </a:pPr>
            <a:r>
              <a:t>• Netflix Technology Blog</a:t>
            </a:r>
          </a:p>
        </p:txBody>
      </p:sp>
      <p:sp>
        <p:nvSpPr>
          <p:cNvPr id="1048733" name="TextBox 12"/>
          <p:cNvSpPr txBox="1"/>
          <p:nvPr/>
        </p:nvSpPr>
        <p:spPr>
          <a:xfrm>
            <a:off x="3749039" y="5772150"/>
            <a:ext cx="4663440" cy="434340"/>
          </a:xfrm>
          <a:prstGeom prst="rect"/>
          <a:noFill/>
        </p:spPr>
        <p:txBody>
          <a:bodyPr anchor="ctr" wrap="square">
            <a:spAutoFit/>
          </a:bodyPr>
          <a:p>
            <a:pPr algn="ctr">
              <a:defRPr b="1" sz="2300">
                <a:solidFill>
                  <a:srgbClr val="0F1E34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1048734" name="TextBox 13"/>
          <p:cNvSpPr txBox="1"/>
          <p:nvPr/>
        </p:nvSpPr>
        <p:spPr>
          <a:xfrm>
            <a:off x="640080" y="6471666"/>
            <a:ext cx="5486400" cy="205740"/>
          </a:xfrm>
          <a:prstGeom prst="rect"/>
          <a:noFill/>
        </p:spPr>
        <p:txBody>
          <a:bodyPr anchor="ctr" wrap="square">
            <a:spAutoFit/>
          </a:bodyPr>
          <a:p>
            <a:pPr algn="l">
              <a:defRPr b="1" sz="800">
                <a:solidFill>
                  <a:srgbClr val="647080"/>
                </a:solidFill>
                <a:latin typeface="Aptos"/>
              </a:defRPr>
            </a:pPr>
            <a:r>
              <a:t>CLOUD-NATIVE COMPUTING AND MICROSERVICES</a:t>
            </a:r>
          </a:p>
        </p:txBody>
      </p:sp>
      <p:sp>
        <p:nvSpPr>
          <p:cNvPr id="1048735" name="TextBox 14"/>
          <p:cNvSpPr txBox="1"/>
          <p:nvPr/>
        </p:nvSpPr>
        <p:spPr>
          <a:xfrm>
            <a:off x="11064240" y="6473952"/>
            <a:ext cx="457200" cy="201168"/>
          </a:xfrm>
          <a:prstGeom prst="rect"/>
          <a:noFill/>
        </p:spPr>
        <p:txBody>
          <a:bodyPr anchor="ctr" wrap="square">
            <a:spAutoFit/>
          </a:bodyPr>
          <a:p>
            <a:pPr algn="r">
              <a:defRPr b="1" sz="900">
                <a:solidFill>
                  <a:srgbClr val="647080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Macintosh PowerPoint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CPH2603</dc:creator>
  <cp:lastModifiedBy>Steve Canny</cp:lastModifiedBy>
  <dcterms:created xsi:type="dcterms:W3CDTF">2013-01-26T00:14:16Z</dcterms:created>
  <dcterms:modified xsi:type="dcterms:W3CDTF">2026-08-27T04:02:05Z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f9a4c0274c664ff4a15e3d3fd3542344_23</vt:lpwstr>
  </property>
</Properties>
</file>